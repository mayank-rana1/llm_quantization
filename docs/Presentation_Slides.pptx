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respected committee members and my supervisor Dr. Yatendra Sahu. I am Mayank Rana (24U021026). Today, I present our B.Tech Major Project Phase-I defense on 'Quantization-Aware Ternary Distillation of Generative Micro-Language Models'. All source code, checkpoints, and documentation are publicly hosted on GitHub at github.com/Mayank-Rana1/llm_quantization as required.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our literature review, we analyzed three foundations: First, DiXtill (Journal of Big Data, 2024) transferred explanations from BERT to a small LSTM, but only for 3-class classification with unquantized weights. Second, BitNet b1.58 (2024) proved 1.58-bit ternary math works, but trained huge 3B models from scratch. Third, PTQ schemes like GPTQ fail below 3 bits. Our work bridges this gap by applying Knowledge Distillation to 1.58-bit causal decoders.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problem statement has two components: First, the Memory Bandwidth Wall. Predicting each word requires streaming every weight from memory. In standard FP16, a 135M model demands 7.7 GB/s bandwidth. Microcontrollers only have 32 MB fast SRAM, and off-chip DRAM uses 100x more power. Second, the Optimization Barrier: snapping weights to discrete values causes catastrophic mode collapse where the model repeats gibberish. Our research question is: Can Knowledge Distillation guide ternary weights to eliminate collapse?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proposed methodology consists of three core pillars: First, 1.58-bit TernaryLinear layers where weights are constrained to minus Delta, zero, or plus Delta. Second, BitNet vocabulary protection: we isolate embed_tokens and lm_head in full precision to guarantee smooth probabilities. Third, a hybrid multi-task objective where softened teacher hints at temperature T=2.0 provide dense guidance across all 49,152 vocabulary tokens.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1 illustrates our end-to-end system architecture with dual teacher-student paths and causal loss masking. Figure 2 shows the autograd optimization loop where continuous master weights accumulate gradients across discrete threshold boundaries.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Slide 6, we detail the implementation. What did I use? Hardware: NVIDIA Tesla T4 GPU. Frameworks: PyTorch 2.0+ and Hugging Face Transformers. Datasets: A balanced 30,000-sample mixture of TinyStories for grammar, WikiText for factual knowledge, and Alpaca for instructions. What did I build? A custom autograd STE quantizer, a 4-weights-per-byte uint8 bit-packing kernel in Python and C++, and an automated evaluation suite. All reproducible via our GitHub repository.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presents our Results, Comparison, and Analysis. Comparing Model A to Model C shows the damage of quantization: WikiText perplexity surges +330%. Introducing Teacher KD in Model D drops perplexity to 55.82—recovering 17.2% of lost capability at the exact same 8x compression. Furthermore, downstream reasoning on ARC-Easy recovers by +6.6%, and paired t-testing across 240,000+ tokens confirms statistical significance at p &lt; 10^-6.</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conclusion, our project proves that sub-2-bit generative language models are feasible on low-power edge devices. By combining BitNet b1.58 ternary architecture with Knowledge Distillation, we achieved an 8x linear core compression, recovered 17.2% of lost perplexity, and eliminated mode collapse. This unlocks high-impact real-world uses in healthcare, autonomous drones, automotive systems, and private mobile assistants. In future work, we will deploy our C++ kernels on Raspberry Pi 5 with Microsoft bitnet.cpp.</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lists our formal academic references in IEEE format, including our base reference DiXtill in the Journal of Big Data (2024), Microsoft's BitNet b1.58 paper, Hinton's seminal Knowledge Distillation paper, and GPTQ. As required by guideline 4, our complete GitHub repository is linked and verified at github.com/Mayank-Rana1/llm_quantization. Thank you, and I look forward to your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88720"/>
          </a:xfrm>
          <a:prstGeom prst="rect">
            <a:avLst/>
          </a:prstGeom>
          <a:solidFill>
            <a:srgbClr val="0F1F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52144"/>
            <a:ext cx="12191695" cy="5080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iit_bhopal_logo.png"/>
          <p:cNvPicPr>
            <a:picLocks noChangeAspect="1"/>
          </p:cNvPicPr>
          <p:nvPr/>
        </p:nvPicPr>
        <p:blipFill>
          <a:blip r:embed="rId2"/>
          <a:stretch>
            <a:fillRect/>
          </a:stretch>
        </p:blipFill>
        <p:spPr>
          <a:xfrm>
            <a:off x="548640" y="137160"/>
            <a:ext cx="914400" cy="914400"/>
          </a:xfrm>
          <a:prstGeom prst="rect">
            <a:avLst/>
          </a:prstGeom>
        </p:spPr>
      </p:pic>
      <p:sp>
        <p:nvSpPr>
          <p:cNvPr id="6" name="TextBox 5"/>
          <p:cNvSpPr txBox="1"/>
          <p:nvPr/>
        </p:nvSpPr>
        <p:spPr>
          <a:xfrm>
            <a:off x="1645920" y="237744"/>
            <a:ext cx="9875520" cy="685800"/>
          </a:xfrm>
          <a:prstGeom prst="rect">
            <a:avLst/>
          </a:prstGeom>
          <a:noFill/>
        </p:spPr>
        <p:txBody>
          <a:bodyPr wrap="none" lIns="0" tIns="0" rIns="0" bIns="0">
            <a:spAutoFit/>
          </a:bodyPr>
          <a:lstStyle/>
          <a:p>
            <a:pPr>
              <a:defRPr sz="1300" b="1">
                <a:solidFill>
                  <a:srgbClr val="FFFFFF"/>
                </a:solidFill>
                <a:latin typeface="Arial"/>
              </a:defRPr>
            </a:pPr>
            <a:r>
              <a:t>INDIAN INSTITUTE OF INFORMATION TECHNOLOGY, BHOPAL</a:t>
            </a:r>
          </a:p>
          <a:p>
            <a:pPr>
              <a:defRPr sz="1000">
                <a:solidFill>
                  <a:srgbClr val="93C5FD"/>
                </a:solidFill>
                <a:latin typeface="Calibri"/>
              </a:defRPr>
            </a:pPr>
            <a:r>
              <a:t>Department of Computer Science &amp; Engineering  ·  B.Tech Major Project Defense [Phase-I]  ·  Academic Session 2026–2027</a:t>
            </a:r>
          </a:p>
        </p:txBody>
      </p:sp>
      <p:sp>
        <p:nvSpPr>
          <p:cNvPr id="7" name="Rectangle 6"/>
          <p:cNvSpPr/>
          <p:nvPr/>
        </p:nvSpPr>
        <p:spPr>
          <a:xfrm>
            <a:off x="548640" y="1371600"/>
            <a:ext cx="11094415" cy="1920240"/>
          </a:xfrm>
          <a:prstGeom prst="rect">
            <a:avLst/>
          </a:prstGeom>
          <a:solidFill>
            <a:srgbClr val="FFFFFF"/>
          </a:solidFill>
          <a:ln w="19050">
            <a:solidFill>
              <a:srgbClr val="DCE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371600"/>
            <a:ext cx="76200" cy="1920240"/>
          </a:xfrm>
          <a:prstGeom prst="rect">
            <a:avLst/>
          </a:prstGeom>
          <a:solidFill>
            <a:srgbClr val="1E63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1508760"/>
            <a:ext cx="10607040" cy="1645920"/>
          </a:xfrm>
          <a:prstGeom prst="rect">
            <a:avLst/>
          </a:prstGeom>
          <a:noFill/>
        </p:spPr>
        <p:txBody>
          <a:bodyPr wrap="square" lIns="0" tIns="0" rIns="0" bIns="0">
            <a:spAutoFit/>
          </a:bodyPr>
          <a:lstStyle/>
          <a:p>
            <a:pPr>
              <a:defRPr sz="1000" b="1">
                <a:solidFill>
                  <a:srgbClr val="1E63EC"/>
                </a:solidFill>
                <a:latin typeface="Arial"/>
              </a:defRPr>
            </a:pPr>
            <a:r>
              <a:t>01  ·  INTRODUCTION</a:t>
            </a:r>
          </a:p>
          <a:p>
            <a:pPr>
              <a:spcBef>
                <a:spcPts val="300"/>
              </a:spcBef>
              <a:defRPr sz="1900" b="1">
                <a:solidFill>
                  <a:srgbClr val="0F1F38"/>
                </a:solidFill>
                <a:latin typeface="Arial"/>
              </a:defRPr>
            </a:pPr>
            <a:r>
              <a:t>Quantization-Aware Ternary Distillation of Generative Micro-Language Models for Resource-Efficient Edge Deployment</a:t>
            </a:r>
          </a:p>
          <a:p>
            <a:pPr>
              <a:spcBef>
                <a:spcPts val="400"/>
              </a:spcBef>
              <a:defRPr sz="1100">
                <a:solidFill>
                  <a:srgbClr val="475569"/>
                </a:solidFill>
                <a:latin typeface="Calibri"/>
              </a:defRPr>
            </a:pPr>
            <a:r>
              <a:t>Project Objective: Shrinking generative AI by 8x to run directly inside small edge microcontrollers with zero cloud servers.</a:t>
            </a:r>
          </a:p>
        </p:txBody>
      </p:sp>
      <p:sp>
        <p:nvSpPr>
          <p:cNvPr id="10" name="Rectangle 9"/>
          <p:cNvSpPr/>
          <p:nvPr/>
        </p:nvSpPr>
        <p:spPr>
          <a:xfrm>
            <a:off x="548640" y="3474720"/>
            <a:ext cx="5440680" cy="1691640"/>
          </a:xfrm>
          <a:prstGeom prst="rect">
            <a:avLst/>
          </a:prstGeom>
          <a:solidFill>
            <a:srgbClr val="FFFFFF"/>
          </a:solidFill>
          <a:ln w="15240">
            <a:solidFill>
              <a:srgbClr val="DCE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3474720"/>
            <a:ext cx="5440680" cy="310896"/>
          </a:xfrm>
          <a:prstGeom prst="rect">
            <a:avLst/>
          </a:prstGeom>
          <a:solidFill>
            <a:srgbClr val="0F1F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4944" y="3529584"/>
            <a:ext cx="5148072" cy="219456"/>
          </a:xfrm>
          <a:prstGeom prst="rect">
            <a:avLst/>
          </a:prstGeom>
          <a:noFill/>
        </p:spPr>
        <p:txBody>
          <a:bodyPr wrap="none">
            <a:spAutoFit/>
          </a:bodyPr>
          <a:lstStyle/>
          <a:p>
            <a:pPr>
              <a:defRPr sz="900" b="1">
                <a:solidFill>
                  <a:srgbClr val="FFFFFF"/>
                </a:solidFill>
                <a:latin typeface="Arial"/>
              </a:defRPr>
            </a:pPr>
            <a:r>
              <a:t>CANDIDATE DOSSIER</a:t>
            </a:r>
          </a:p>
        </p:txBody>
      </p:sp>
      <p:sp>
        <p:nvSpPr>
          <p:cNvPr id="13" name="TextBox 12"/>
          <p:cNvSpPr txBox="1"/>
          <p:nvPr/>
        </p:nvSpPr>
        <p:spPr>
          <a:xfrm>
            <a:off x="731520" y="3877056"/>
            <a:ext cx="5074920" cy="1234440"/>
          </a:xfrm>
          <a:prstGeom prst="rect">
            <a:avLst/>
          </a:prstGeom>
          <a:noFill/>
        </p:spPr>
        <p:txBody>
          <a:bodyPr wrap="square">
            <a:spAutoFit/>
          </a:bodyPr>
          <a:lstStyle/>
          <a:p>
            <a:pPr>
              <a:spcAft>
                <a:spcPts val="300"/>
              </a:spcAft>
            </a:pPr>
            <a:r>
              <a:rPr sz="1000" b="1">
                <a:solidFill>
                  <a:srgbClr val="0F1F38"/>
                </a:solidFill>
                <a:latin typeface="Arial"/>
              </a:rPr>
              <a:t>Candidate Name: </a:t>
            </a:r>
            <a:r>
              <a:rPr sz="1000">
                <a:solidFill>
                  <a:srgbClr val="0F172A"/>
                </a:solidFill>
                <a:latin typeface="Calibri"/>
              </a:rPr>
              <a:t>Mayank Rana</a:t>
            </a:r>
          </a:p>
          <a:p>
            <a:pPr>
              <a:spcAft>
                <a:spcPts val="300"/>
              </a:spcAft>
            </a:pPr>
            <a:r>
              <a:rPr sz="1000" b="1">
                <a:solidFill>
                  <a:srgbClr val="0F1F38"/>
                </a:solidFill>
                <a:latin typeface="Arial"/>
              </a:rPr>
              <a:t>Scholar Number: </a:t>
            </a:r>
            <a:r>
              <a:rPr sz="1000">
                <a:solidFill>
                  <a:srgbClr val="0F172A"/>
                </a:solidFill>
                <a:latin typeface="Calibri"/>
              </a:rPr>
              <a:t>24U021026</a:t>
            </a:r>
          </a:p>
          <a:p>
            <a:pPr>
              <a:spcAft>
                <a:spcPts val="300"/>
              </a:spcAft>
            </a:pPr>
            <a:r>
              <a:rPr sz="1000" b="1">
                <a:solidFill>
                  <a:srgbClr val="0F1F38"/>
                </a:solidFill>
                <a:latin typeface="Arial"/>
              </a:rPr>
              <a:t>Program &amp; Branch: </a:t>
            </a:r>
            <a:r>
              <a:rPr sz="1000">
                <a:solidFill>
                  <a:srgbClr val="0F172A"/>
                </a:solidFill>
                <a:latin typeface="Calibri"/>
              </a:rPr>
              <a:t>B.Tech in CSE (Artificial Intelligence)</a:t>
            </a:r>
          </a:p>
          <a:p>
            <a:pPr>
              <a:spcAft>
                <a:spcPts val="300"/>
              </a:spcAft>
            </a:pPr>
            <a:r>
              <a:rPr sz="1000" b="1">
                <a:solidFill>
                  <a:srgbClr val="0F1F38"/>
                </a:solidFill>
                <a:latin typeface="Arial"/>
              </a:rPr>
              <a:t>Semester / Phase: </a:t>
            </a:r>
            <a:r>
              <a:rPr sz="1000">
                <a:solidFill>
                  <a:srgbClr val="0F172A"/>
                </a:solidFill>
                <a:latin typeface="Calibri"/>
              </a:rPr>
              <a:t>Semester V · Major Project Defense [Phase-I]</a:t>
            </a:r>
          </a:p>
        </p:txBody>
      </p:sp>
      <p:sp>
        <p:nvSpPr>
          <p:cNvPr id="14" name="Rectangle 13"/>
          <p:cNvSpPr/>
          <p:nvPr/>
        </p:nvSpPr>
        <p:spPr>
          <a:xfrm>
            <a:off x="6202375" y="3474720"/>
            <a:ext cx="5440680" cy="1691640"/>
          </a:xfrm>
          <a:prstGeom prst="rect">
            <a:avLst/>
          </a:prstGeom>
          <a:solidFill>
            <a:srgbClr val="FFFFFF"/>
          </a:solidFill>
          <a:ln w="15240">
            <a:solidFill>
              <a:srgbClr val="DCE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02375" y="3474720"/>
            <a:ext cx="5440680" cy="310896"/>
          </a:xfrm>
          <a:prstGeom prst="rect">
            <a:avLst/>
          </a:prstGeom>
          <a:solidFill>
            <a:srgbClr val="0F1F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48679" y="3529584"/>
            <a:ext cx="5148072" cy="219456"/>
          </a:xfrm>
          <a:prstGeom prst="rect">
            <a:avLst/>
          </a:prstGeom>
          <a:noFill/>
        </p:spPr>
        <p:txBody>
          <a:bodyPr wrap="none">
            <a:spAutoFit/>
          </a:bodyPr>
          <a:lstStyle/>
          <a:p>
            <a:pPr>
              <a:defRPr sz="900" b="1">
                <a:solidFill>
                  <a:srgbClr val="FFFFFF"/>
                </a:solidFill>
                <a:latin typeface="Arial"/>
              </a:defRPr>
            </a:pPr>
            <a:r>
              <a:t>SUPERVISION &amp; ACADEMIC UNIT</a:t>
            </a:r>
          </a:p>
        </p:txBody>
      </p:sp>
      <p:sp>
        <p:nvSpPr>
          <p:cNvPr id="17" name="TextBox 16"/>
          <p:cNvSpPr txBox="1"/>
          <p:nvPr/>
        </p:nvSpPr>
        <p:spPr>
          <a:xfrm>
            <a:off x="6385255" y="3877056"/>
            <a:ext cx="5074920" cy="1234440"/>
          </a:xfrm>
          <a:prstGeom prst="rect">
            <a:avLst/>
          </a:prstGeom>
          <a:noFill/>
        </p:spPr>
        <p:txBody>
          <a:bodyPr wrap="square">
            <a:spAutoFit/>
          </a:bodyPr>
          <a:lstStyle/>
          <a:p>
            <a:pPr>
              <a:spcAft>
                <a:spcPts val="300"/>
              </a:spcAft>
            </a:pPr>
            <a:r>
              <a:rPr sz="1000" b="1">
                <a:solidFill>
                  <a:srgbClr val="0F1F38"/>
                </a:solidFill>
                <a:latin typeface="Arial"/>
              </a:rPr>
              <a:t>Project Supervisor: </a:t>
            </a:r>
            <a:r>
              <a:rPr sz="1000">
                <a:solidFill>
                  <a:srgbClr val="0F172A"/>
                </a:solidFill>
                <a:latin typeface="Calibri"/>
              </a:rPr>
              <a:t>Dr. Yatendra Sahu</a:t>
            </a:r>
          </a:p>
          <a:p>
            <a:pPr>
              <a:spcAft>
                <a:spcPts val="300"/>
              </a:spcAft>
            </a:pPr>
            <a:r>
              <a:rPr sz="1000" b="1">
                <a:solidFill>
                  <a:srgbClr val="0F1F38"/>
                </a:solidFill>
                <a:latin typeface="Arial"/>
              </a:rPr>
              <a:t>Designation: </a:t>
            </a:r>
            <a:r>
              <a:rPr sz="1000">
                <a:solidFill>
                  <a:srgbClr val="0F172A"/>
                </a:solidFill>
                <a:latin typeface="Calibri"/>
              </a:rPr>
              <a:t>Assistant Professor, Dept. of CSE</a:t>
            </a:r>
          </a:p>
          <a:p>
            <a:pPr>
              <a:spcAft>
                <a:spcPts val="300"/>
              </a:spcAft>
            </a:pPr>
            <a:r>
              <a:rPr sz="1000" b="1">
                <a:solidFill>
                  <a:srgbClr val="0F1F38"/>
                </a:solidFill>
                <a:latin typeface="Arial"/>
              </a:rPr>
              <a:t>Institution: </a:t>
            </a:r>
            <a:r>
              <a:rPr sz="1000">
                <a:solidFill>
                  <a:srgbClr val="0F172A"/>
                </a:solidFill>
                <a:latin typeface="Calibri"/>
              </a:rPr>
              <a:t>IIIT Bhopal (M.P.)</a:t>
            </a:r>
          </a:p>
          <a:p>
            <a:pPr>
              <a:spcAft>
                <a:spcPts val="300"/>
              </a:spcAft>
            </a:pPr>
            <a:r>
              <a:rPr sz="1000" b="1">
                <a:solidFill>
                  <a:srgbClr val="0F1F38"/>
                </a:solidFill>
                <a:latin typeface="Arial"/>
              </a:rPr>
              <a:t>Project GitHub Link: </a:t>
            </a:r>
            <a:r>
              <a:rPr sz="1000">
                <a:solidFill>
                  <a:srgbClr val="0F172A"/>
                </a:solidFill>
                <a:latin typeface="Calibri"/>
              </a:rPr>
              <a:t>https://github.com/Mayank-Rana1/llm_quantization</a:t>
            </a:r>
          </a:p>
        </p:txBody>
      </p:sp>
      <p:sp>
        <p:nvSpPr>
          <p:cNvPr id="18" name="Rectangle 17"/>
          <p:cNvSpPr/>
          <p:nvPr/>
        </p:nvSpPr>
        <p:spPr>
          <a:xfrm>
            <a:off x="548640" y="5303520"/>
            <a:ext cx="11094415" cy="1005840"/>
          </a:xfrm>
          <a:prstGeom prst="rect">
            <a:avLst/>
          </a:prstGeom>
          <a:solidFill>
            <a:srgbClr val="FFFFFF"/>
          </a:solidFill>
          <a:ln w="15240">
            <a:solidFill>
              <a:srgbClr val="DCE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5303520"/>
            <a:ext cx="63500" cy="1005840"/>
          </a:xfrm>
          <a:prstGeom prst="rect">
            <a:avLst/>
          </a:prstGeom>
          <a:solidFill>
            <a:srgbClr val="0E93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5413248"/>
            <a:ext cx="10698480" cy="777240"/>
          </a:xfrm>
          <a:prstGeom prst="rect">
            <a:avLst/>
          </a:prstGeom>
          <a:noFill/>
        </p:spPr>
        <p:txBody>
          <a:bodyPr wrap="square">
            <a:spAutoFit/>
          </a:bodyPr>
          <a:lstStyle/>
          <a:p>
            <a:r>
              <a:rPr sz="1000" b="1">
                <a:solidFill>
                  <a:srgbClr val="0E9355"/>
                </a:solidFill>
                <a:latin typeface="Arial"/>
              </a:rPr>
              <a:t>OFFICIAL PROJECT GITHUB REPOSITORY (MANDATORY REQUIREMENT):  </a:t>
            </a:r>
            <a:r>
              <a:rPr sz="1100" b="1">
                <a:solidFill>
                  <a:srgbClr val="1E63EC"/>
                </a:solidFill>
                <a:latin typeface="Arial"/>
              </a:rPr>
              <a:t>https://github.com/Mayank-Rana1/llm_quantization</a:t>
            </a:r>
          </a:p>
          <a:p>
            <a:pPr>
              <a:spcBef>
                <a:spcPts val="400"/>
              </a:spcBef>
              <a:defRPr sz="950">
                <a:solidFill>
                  <a:srgbClr val="475569"/>
                </a:solidFill>
                <a:latin typeface="Calibri"/>
              </a:defRPr>
            </a:pPr>
            <a:r>
              <a:t>Includes: Complete Source Code · Trained Model Checkpoints · Evaluation Benchmarks · B.Tech Report · Defense Slides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0F1F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82880"/>
            <a:ext cx="11094415" cy="219456"/>
          </a:xfrm>
          <a:prstGeom prst="rect">
            <a:avLst/>
          </a:prstGeom>
          <a:noFill/>
        </p:spPr>
        <p:txBody>
          <a:bodyPr wrap="none" lIns="0" tIns="0" rIns="0" bIns="0">
            <a:spAutoFit/>
          </a:bodyPr>
          <a:lstStyle/>
          <a:p>
            <a:pPr>
              <a:defRPr sz="900" b="1">
                <a:solidFill>
                  <a:srgbClr val="1E63EC"/>
                </a:solidFill>
                <a:latin typeface="Arial"/>
              </a:defRPr>
            </a:pPr>
            <a:r>
              <a:t>02  ·  LITERATURE REVIEW / BACKGROUND</a:t>
            </a:r>
          </a:p>
        </p:txBody>
      </p:sp>
      <p:sp>
        <p:nvSpPr>
          <p:cNvPr id="5" name="TextBox 4"/>
          <p:cNvSpPr txBox="1"/>
          <p:nvPr/>
        </p:nvSpPr>
        <p:spPr>
          <a:xfrm>
            <a:off x="548640" y="384048"/>
            <a:ext cx="11094415" cy="420624"/>
          </a:xfrm>
          <a:prstGeom prst="rect">
            <a:avLst/>
          </a:prstGeom>
          <a:noFill/>
        </p:spPr>
        <p:txBody>
          <a:bodyPr wrap="none" lIns="0" tIns="0" rIns="0" bIns="0">
            <a:spAutoFit/>
          </a:bodyPr>
          <a:lstStyle/>
          <a:p>
            <a:pPr>
              <a:defRPr sz="2000" b="1">
                <a:solidFill>
                  <a:srgbClr val="0F1F38"/>
                </a:solidFill>
                <a:latin typeface="Arial"/>
              </a:defRPr>
            </a:pPr>
            <a:r>
              <a:t>Foundational Literature &amp; State-of-the-Art Landscape</a:t>
            </a:r>
          </a:p>
        </p:txBody>
      </p:sp>
      <p:sp>
        <p:nvSpPr>
          <p:cNvPr id="6" name="Rectangle 5"/>
          <p:cNvSpPr/>
          <p:nvPr/>
        </p:nvSpPr>
        <p:spPr>
          <a:xfrm>
            <a:off x="548640" y="841248"/>
            <a:ext cx="11094415" cy="384048"/>
          </a:xfrm>
          <a:prstGeom prst="rect">
            <a:avLst/>
          </a:prstGeom>
          <a:solidFill>
            <a:srgbClr val="EEF4FF"/>
          </a:solidFill>
          <a:ln w="12700">
            <a:solidFill>
              <a:srgbClr val="B9D3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841248"/>
            <a:ext cx="63500" cy="384048"/>
          </a:xfrm>
          <a:prstGeom prst="rect">
            <a:avLst/>
          </a:prstGeom>
          <a:solidFill>
            <a:srgbClr val="1E63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896112"/>
            <a:ext cx="10865815" cy="274320"/>
          </a:xfrm>
          <a:prstGeom prst="rect">
            <a:avLst/>
          </a:prstGeom>
          <a:noFill/>
        </p:spPr>
        <p:txBody>
          <a:bodyPr wrap="square" lIns="0" tIns="0" rIns="0" bIns="0">
            <a:spAutoFit/>
          </a:bodyPr>
          <a:lstStyle/>
          <a:p>
            <a:r>
              <a:rPr sz="1000" b="1">
                <a:solidFill>
                  <a:srgbClr val="1E63EC"/>
                </a:solidFill>
                <a:latin typeface="Arial"/>
              </a:rPr>
              <a:t>KEY TAKEAWAY:  </a:t>
            </a:r>
            <a:r>
              <a:rPr sz="1000" b="1">
                <a:solidFill>
                  <a:srgbClr val="0F1F38"/>
                </a:solidFill>
                <a:latin typeface="Calibri"/>
              </a:rPr>
              <a:t>Extending DiXtill (2024) and BitNet b1.58 (2024) to create the first distilled 1.58-bit causal generative micro-model.</a:t>
            </a:r>
          </a:p>
        </p:txBody>
      </p:sp>
      <p:sp>
        <p:nvSpPr>
          <p:cNvPr id="9" name="Rectangle 8"/>
          <p:cNvSpPr/>
          <p:nvPr/>
        </p:nvSpPr>
        <p:spPr>
          <a:xfrm>
            <a:off x="548640" y="6446520"/>
            <a:ext cx="11094415" cy="12700"/>
          </a:xfrm>
          <a:prstGeom prst="rect">
            <a:avLst/>
          </a:prstGeom>
          <a:solidFill>
            <a:srgbClr val="DCE3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6501384"/>
            <a:ext cx="8686800" cy="256032"/>
          </a:xfrm>
          <a:prstGeom prst="rect">
            <a:avLst/>
          </a:prstGeom>
          <a:noFill/>
        </p:spPr>
        <p:txBody>
          <a:bodyPr wrap="none" lIns="0" tIns="0" rIns="0" bIns="0">
            <a:spAutoFit/>
          </a:bodyPr>
          <a:lstStyle/>
          <a:p>
            <a:pPr>
              <a:defRPr sz="800" b="1">
                <a:solidFill>
                  <a:srgbClr val="475569"/>
                </a:solidFill>
                <a:latin typeface="Arial"/>
              </a:defRPr>
            </a:pPr>
            <a:r>
              <a:t>MAYANK RANA (24U021026)  ·  GUIDE: DR. YATENDRA SAHU  ·  IIIT BHOPAL  ·  GITHUB: https://github.com/Mayank-Rana1/llm_quantization</a:t>
            </a:r>
          </a:p>
        </p:txBody>
      </p:sp>
      <p:sp>
        <p:nvSpPr>
          <p:cNvPr id="11" name="TextBox 10"/>
          <p:cNvSpPr txBox="1"/>
          <p:nvPr/>
        </p:nvSpPr>
        <p:spPr>
          <a:xfrm>
            <a:off x="9357055" y="6501384"/>
            <a:ext cx="2286000" cy="256032"/>
          </a:xfrm>
          <a:prstGeom prst="rect">
            <a:avLst/>
          </a:prstGeom>
          <a:noFill/>
        </p:spPr>
        <p:txBody>
          <a:bodyPr wrap="none" lIns="0" tIns="0" rIns="0" bIns="0">
            <a:spAutoFit/>
          </a:bodyPr>
          <a:lstStyle/>
          <a:p>
            <a:pPr algn="r">
              <a:defRPr sz="850" b="1">
                <a:solidFill>
                  <a:srgbClr val="0F1F38"/>
                </a:solidFill>
                <a:latin typeface="Arial"/>
              </a:defRPr>
            </a:pPr>
            <a:r>
              <a:t>SLIDE 02 OF 09</a:t>
            </a:r>
          </a:p>
        </p:txBody>
      </p:sp>
      <p:sp>
        <p:nvSpPr>
          <p:cNvPr id="12" name="Rectangle 11"/>
          <p:cNvSpPr/>
          <p:nvPr/>
        </p:nvSpPr>
        <p:spPr>
          <a:xfrm>
            <a:off x="548640" y="1353312"/>
            <a:ext cx="3575304" cy="4983480"/>
          </a:xfrm>
          <a:prstGeom prst="rect">
            <a:avLst/>
          </a:prstGeom>
          <a:solidFill>
            <a:srgbClr val="FFFFFF"/>
          </a:solidFill>
          <a:ln w="15240">
            <a:solidFill>
              <a:srgbClr val="DCE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353312"/>
            <a:ext cx="3575304" cy="329184"/>
          </a:xfrm>
          <a:prstGeom prst="rect">
            <a:avLst/>
          </a:prstGeom>
          <a:solidFill>
            <a:srgbClr val="0F1F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4944" y="1417320"/>
            <a:ext cx="3282696" cy="219456"/>
          </a:xfrm>
          <a:prstGeom prst="rect">
            <a:avLst/>
          </a:prstGeom>
          <a:noFill/>
        </p:spPr>
        <p:txBody>
          <a:bodyPr wrap="none" lIns="0" tIns="0" rIns="0" bIns="0">
            <a:spAutoFit/>
          </a:bodyPr>
          <a:lstStyle/>
          <a:p>
            <a:pPr>
              <a:defRPr sz="900" b="1">
                <a:solidFill>
                  <a:srgbClr val="FFFFFF"/>
                </a:solidFill>
                <a:latin typeface="Arial"/>
              </a:defRPr>
            </a:pPr>
            <a:r>
              <a:t>1. BASE REFERENCE: DIXTILL (2024)</a:t>
            </a:r>
          </a:p>
        </p:txBody>
      </p:sp>
      <p:sp>
        <p:nvSpPr>
          <p:cNvPr id="15" name="TextBox 14"/>
          <p:cNvSpPr txBox="1"/>
          <p:nvPr/>
        </p:nvSpPr>
        <p:spPr>
          <a:xfrm>
            <a:off x="713232" y="1773936"/>
            <a:ext cx="3246120" cy="4014216"/>
          </a:xfrm>
          <a:prstGeom prst="rect">
            <a:avLst/>
          </a:prstGeom>
          <a:noFill/>
        </p:spPr>
        <p:txBody>
          <a:bodyPr wrap="square" lIns="0" tIns="0" rIns="0" bIns="0">
            <a:spAutoFit/>
          </a:bodyPr>
          <a:lstStyle/>
          <a:p>
            <a:pPr>
              <a:spcAft>
                <a:spcPts val="800"/>
              </a:spcAft>
            </a:pPr>
            <a:r>
              <a:rPr sz="1100" b="1">
                <a:solidFill>
                  <a:srgbClr val="1E63EC"/>
                </a:solidFill>
                <a:latin typeface="Arial"/>
              </a:rPr>
              <a:t>▪ </a:t>
            </a:r>
            <a:r>
              <a:rPr sz="1100" b="1">
                <a:solidFill>
                  <a:srgbClr val="0F1F38"/>
                </a:solidFill>
                <a:latin typeface="Arial"/>
              </a:rPr>
              <a:t>Reference Paper:</a:t>
            </a:r>
            <a:r>
              <a:rPr sz="1100" b="0">
                <a:solidFill>
                  <a:srgbClr val="0F172A"/>
                </a:solidFill>
                <a:latin typeface="Calibri"/>
              </a:rPr>
              <a:t> Cantini, Orsino, &amp; Talia, Journal of Big Data (2024) 11:63.</a:t>
            </a:r>
          </a:p>
          <a:p>
            <a:pPr>
              <a:spcAft>
                <a:spcPts val="800"/>
              </a:spcAft>
            </a:pPr>
            <a:r>
              <a:rPr sz="1100" b="1">
                <a:solidFill>
                  <a:srgbClr val="1E63EC"/>
                </a:solidFill>
                <a:latin typeface="Arial"/>
              </a:rPr>
              <a:t>▪ </a:t>
            </a:r>
            <a:r>
              <a:rPr sz="1100" b="1">
                <a:solidFill>
                  <a:srgbClr val="0F1F38"/>
                </a:solidFill>
                <a:latin typeface="Arial"/>
              </a:rPr>
              <a:t>What It Did:</a:t>
            </a:r>
            <a:r>
              <a:rPr sz="1100" b="0">
                <a:solidFill>
                  <a:srgbClr val="0F172A"/>
                </a:solidFill>
                <a:latin typeface="Calibri"/>
              </a:rPr>
              <a:t> Transferred teacher knowledge from FinBERT to a 1-layer Bi-LSTM student.</a:t>
            </a:r>
          </a:p>
          <a:p>
            <a:pPr>
              <a:spcAft>
                <a:spcPts val="800"/>
              </a:spcAft>
            </a:pPr>
            <a:r>
              <a:rPr sz="1100" b="1">
                <a:solidFill>
                  <a:srgbClr val="1E63EC"/>
                </a:solidFill>
                <a:latin typeface="Arial"/>
              </a:rPr>
              <a:t>▪ </a:t>
            </a:r>
            <a:r>
              <a:rPr sz="1100" b="1">
                <a:solidFill>
                  <a:srgbClr val="0F1F38"/>
                </a:solidFill>
                <a:latin typeface="Arial"/>
              </a:rPr>
              <a:t>Key Limitation 1:</a:t>
            </a:r>
            <a:r>
              <a:rPr sz="1100" b="0">
                <a:solidFill>
                  <a:srgbClr val="0F172A"/>
                </a:solidFill>
                <a:latin typeface="Calibri"/>
              </a:rPr>
              <a:t> Addressed only 3-class Twitter sentiment classification.</a:t>
            </a:r>
          </a:p>
          <a:p>
            <a:pPr>
              <a:spcAft>
                <a:spcPts val="800"/>
              </a:spcAft>
            </a:pPr>
            <a:r>
              <a:rPr sz="1100" b="1">
                <a:solidFill>
                  <a:srgbClr val="1E63EC"/>
                </a:solidFill>
                <a:latin typeface="Arial"/>
              </a:rPr>
              <a:t>▪ </a:t>
            </a:r>
            <a:r>
              <a:rPr sz="1100" b="1">
                <a:solidFill>
                  <a:srgbClr val="0F1F38"/>
                </a:solidFill>
                <a:latin typeface="Arial"/>
              </a:rPr>
              <a:t>Key Limitation 2:</a:t>
            </a:r>
            <a:r>
              <a:rPr sz="1100" b="0">
                <a:solidFill>
                  <a:srgbClr val="0F172A"/>
                </a:solidFill>
                <a:latin typeface="Calibri"/>
              </a:rPr>
              <a:t> Used unquantized FP32 weights (zero weight compression).</a:t>
            </a:r>
          </a:p>
          <a:p>
            <a:pPr>
              <a:spcAft>
                <a:spcPts val="800"/>
              </a:spcAft>
            </a:pPr>
            <a:r>
              <a:rPr sz="1100" b="1">
                <a:solidFill>
                  <a:srgbClr val="1E63EC"/>
                </a:solidFill>
                <a:latin typeface="Arial"/>
              </a:rPr>
              <a:t>▪ </a:t>
            </a:r>
            <a:r>
              <a:rPr sz="1100" b="1">
                <a:solidFill>
                  <a:srgbClr val="0F1F38"/>
                </a:solidFill>
                <a:latin typeface="Arial"/>
              </a:rPr>
              <a:t>Our Advance:</a:t>
            </a:r>
            <a:r>
              <a:rPr sz="1100" b="0">
                <a:solidFill>
                  <a:srgbClr val="0F172A"/>
                </a:solidFill>
                <a:latin typeface="Calibri"/>
              </a:rPr>
              <a:t> We extend this to 30-layer causal autoregressive generation (SmolLM-135M).</a:t>
            </a:r>
          </a:p>
        </p:txBody>
      </p:sp>
      <p:sp>
        <p:nvSpPr>
          <p:cNvPr id="16" name="Rectangle 15"/>
          <p:cNvSpPr/>
          <p:nvPr/>
        </p:nvSpPr>
        <p:spPr>
          <a:xfrm>
            <a:off x="694944" y="5916168"/>
            <a:ext cx="3282696" cy="329184"/>
          </a:xfrm>
          <a:prstGeom prst="rect">
            <a:avLst/>
          </a:prstGeom>
          <a:solidFill>
            <a:srgbClr val="F1F5F9"/>
          </a:solidFill>
          <a:ln w="12700">
            <a:solidFill>
              <a:srgbClr val="DCE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94944" y="5916168"/>
            <a:ext cx="50800" cy="329184"/>
          </a:xfrm>
          <a:prstGeom prst="rect">
            <a:avLst/>
          </a:prstGeom>
          <a:solidFill>
            <a:srgbClr val="1E63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8096" y="5971032"/>
            <a:ext cx="3118104" cy="219456"/>
          </a:xfrm>
          <a:prstGeom prst="rect">
            <a:avLst/>
          </a:prstGeom>
          <a:noFill/>
        </p:spPr>
        <p:txBody>
          <a:bodyPr wrap="none" lIns="0" tIns="0" rIns="0" bIns="0">
            <a:spAutoFit/>
          </a:bodyPr>
          <a:lstStyle/>
          <a:p>
            <a:pPr>
              <a:defRPr sz="950" b="1">
                <a:solidFill>
                  <a:srgbClr val="0F1F38"/>
                </a:solidFill>
                <a:latin typeface="Arial"/>
              </a:defRPr>
            </a:pPr>
            <a:r>
              <a:t>Journal of Big Data (2024) -&gt; Extended to Causal Text Generation</a:t>
            </a:r>
          </a:p>
        </p:txBody>
      </p:sp>
      <p:sp>
        <p:nvSpPr>
          <p:cNvPr id="19" name="Rectangle 18"/>
          <p:cNvSpPr/>
          <p:nvPr/>
        </p:nvSpPr>
        <p:spPr>
          <a:xfrm>
            <a:off x="4306824" y="1353312"/>
            <a:ext cx="3575304" cy="4983480"/>
          </a:xfrm>
          <a:prstGeom prst="rect">
            <a:avLst/>
          </a:prstGeom>
          <a:solidFill>
            <a:srgbClr val="FFFFFF"/>
          </a:solidFill>
          <a:ln w="15240">
            <a:solidFill>
              <a:srgbClr val="DCE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306824" y="1353312"/>
            <a:ext cx="3575304" cy="329184"/>
          </a:xfrm>
          <a:prstGeom prst="rect">
            <a:avLst/>
          </a:prstGeom>
          <a:solidFill>
            <a:srgbClr val="0F1F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453128" y="1417320"/>
            <a:ext cx="3282696" cy="219456"/>
          </a:xfrm>
          <a:prstGeom prst="rect">
            <a:avLst/>
          </a:prstGeom>
          <a:noFill/>
        </p:spPr>
        <p:txBody>
          <a:bodyPr wrap="none" lIns="0" tIns="0" rIns="0" bIns="0">
            <a:spAutoFit/>
          </a:bodyPr>
          <a:lstStyle/>
          <a:p>
            <a:pPr>
              <a:defRPr sz="900" b="1">
                <a:solidFill>
                  <a:srgbClr val="FFFFFF"/>
                </a:solidFill>
                <a:latin typeface="Arial"/>
              </a:defRPr>
            </a:pPr>
            <a:r>
              <a:t>2. 1.58-BIT FRONTIER: BITNET B1.58</a:t>
            </a:r>
          </a:p>
        </p:txBody>
      </p:sp>
      <p:sp>
        <p:nvSpPr>
          <p:cNvPr id="22" name="TextBox 21"/>
          <p:cNvSpPr txBox="1"/>
          <p:nvPr/>
        </p:nvSpPr>
        <p:spPr>
          <a:xfrm>
            <a:off x="4471416" y="1773936"/>
            <a:ext cx="3246120" cy="4014216"/>
          </a:xfrm>
          <a:prstGeom prst="rect">
            <a:avLst/>
          </a:prstGeom>
          <a:noFill/>
        </p:spPr>
        <p:txBody>
          <a:bodyPr wrap="square" lIns="0" tIns="0" rIns="0" bIns="0">
            <a:spAutoFit/>
          </a:bodyPr>
          <a:lstStyle/>
          <a:p>
            <a:pPr>
              <a:spcAft>
                <a:spcPts val="800"/>
              </a:spcAft>
            </a:pPr>
            <a:r>
              <a:rPr sz="1100" b="1">
                <a:solidFill>
                  <a:srgbClr val="1E63EC"/>
                </a:solidFill>
                <a:latin typeface="Arial"/>
              </a:rPr>
              <a:t>▪ </a:t>
            </a:r>
            <a:r>
              <a:rPr sz="1100" b="1">
                <a:solidFill>
                  <a:srgbClr val="0F1F38"/>
                </a:solidFill>
                <a:latin typeface="Arial"/>
              </a:rPr>
              <a:t>Reference Paper:</a:t>
            </a:r>
            <a:r>
              <a:rPr sz="1100" b="0">
                <a:solidFill>
                  <a:srgbClr val="0F172A"/>
                </a:solidFill>
                <a:latin typeface="Calibri"/>
              </a:rPr>
              <a:t> Ma et al., Microsoft Research Technical Report (Feb 2024).</a:t>
            </a:r>
          </a:p>
          <a:p>
            <a:pPr>
              <a:spcAft>
                <a:spcPts val="800"/>
              </a:spcAft>
            </a:pPr>
            <a:r>
              <a:rPr sz="1100" b="1">
                <a:solidFill>
                  <a:srgbClr val="1E63EC"/>
                </a:solidFill>
                <a:latin typeface="Arial"/>
              </a:rPr>
              <a:t>▪ </a:t>
            </a:r>
            <a:r>
              <a:rPr sz="1100" b="1">
                <a:solidFill>
                  <a:srgbClr val="0F1F38"/>
                </a:solidFill>
                <a:latin typeface="Arial"/>
              </a:rPr>
              <a:t>What It Did:</a:t>
            </a:r>
            <a:r>
              <a:rPr sz="1100" b="0">
                <a:solidFill>
                  <a:srgbClr val="0F172A"/>
                </a:solidFill>
                <a:latin typeface="Calibri"/>
              </a:rPr>
              <a:t> Proved ternary weights {-Δ, 0, +Δ} match full-precision quality.</a:t>
            </a:r>
          </a:p>
          <a:p>
            <a:pPr>
              <a:spcAft>
                <a:spcPts val="800"/>
              </a:spcAft>
            </a:pPr>
            <a:r>
              <a:rPr sz="1100" b="1">
                <a:solidFill>
                  <a:srgbClr val="1E63EC"/>
                </a:solidFill>
                <a:latin typeface="Arial"/>
              </a:rPr>
              <a:t>▪ </a:t>
            </a:r>
            <a:r>
              <a:rPr sz="1100" b="1">
                <a:solidFill>
                  <a:srgbClr val="0F1F38"/>
                </a:solidFill>
                <a:latin typeface="Arial"/>
              </a:rPr>
              <a:t>Zero-Multiplication Math:</a:t>
            </a:r>
            <a:r>
              <a:rPr sz="1100" b="0">
                <a:solidFill>
                  <a:srgbClr val="0F172A"/>
                </a:solidFill>
                <a:latin typeface="Calibri"/>
              </a:rPr>
              <a:t> Replaced floating-point MACs with integer additions.</a:t>
            </a:r>
          </a:p>
          <a:p>
            <a:pPr>
              <a:spcAft>
                <a:spcPts val="800"/>
              </a:spcAft>
            </a:pPr>
            <a:r>
              <a:rPr sz="1100" b="1">
                <a:solidFill>
                  <a:srgbClr val="1E63EC"/>
                </a:solidFill>
                <a:latin typeface="Arial"/>
              </a:rPr>
              <a:t>▪ </a:t>
            </a:r>
            <a:r>
              <a:rPr sz="1100" b="1">
                <a:solidFill>
                  <a:srgbClr val="0F1F38"/>
                </a:solidFill>
                <a:latin typeface="Arial"/>
              </a:rPr>
              <a:t>Key Limitation:</a:t>
            </a:r>
            <a:r>
              <a:rPr sz="1100" b="0">
                <a:solidFill>
                  <a:srgbClr val="0F172A"/>
                </a:solidFill>
                <a:latin typeface="Calibri"/>
              </a:rPr>
              <a:t> Trained massive 3B+ models from scratch on trillions of tokens.</a:t>
            </a:r>
          </a:p>
          <a:p>
            <a:pPr>
              <a:spcAft>
                <a:spcPts val="800"/>
              </a:spcAft>
            </a:pPr>
            <a:r>
              <a:rPr sz="1100" b="1">
                <a:solidFill>
                  <a:srgbClr val="1E63EC"/>
                </a:solidFill>
                <a:latin typeface="Arial"/>
              </a:rPr>
              <a:t>▪ </a:t>
            </a:r>
            <a:r>
              <a:rPr sz="1100" b="1">
                <a:solidFill>
                  <a:srgbClr val="0F1F38"/>
                </a:solidFill>
                <a:latin typeface="Arial"/>
              </a:rPr>
              <a:t>Our Advance:</a:t>
            </a:r>
            <a:r>
              <a:rPr sz="1100" b="0">
                <a:solidFill>
                  <a:srgbClr val="0F172A"/>
                </a:solidFill>
                <a:latin typeface="Calibri"/>
              </a:rPr>
              <a:t> We apply 1.58-bit QAT to pre-trained micro-models (&lt;500M) via distillation.</a:t>
            </a:r>
          </a:p>
        </p:txBody>
      </p:sp>
      <p:sp>
        <p:nvSpPr>
          <p:cNvPr id="23" name="Rectangle 22"/>
          <p:cNvSpPr/>
          <p:nvPr/>
        </p:nvSpPr>
        <p:spPr>
          <a:xfrm>
            <a:off x="4453128" y="5916168"/>
            <a:ext cx="3282696" cy="329184"/>
          </a:xfrm>
          <a:prstGeom prst="rect">
            <a:avLst/>
          </a:prstGeom>
          <a:solidFill>
            <a:srgbClr val="F1F5F9"/>
          </a:solidFill>
          <a:ln w="12700">
            <a:solidFill>
              <a:srgbClr val="DCE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453128" y="5916168"/>
            <a:ext cx="50800" cy="329184"/>
          </a:xfrm>
          <a:prstGeom prst="rect">
            <a:avLst/>
          </a:prstGeom>
          <a:solidFill>
            <a:srgbClr val="1E63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526280" y="5971032"/>
            <a:ext cx="3118104" cy="219456"/>
          </a:xfrm>
          <a:prstGeom prst="rect">
            <a:avLst/>
          </a:prstGeom>
          <a:noFill/>
        </p:spPr>
        <p:txBody>
          <a:bodyPr wrap="none" lIns="0" tIns="0" rIns="0" bIns="0">
            <a:spAutoFit/>
          </a:bodyPr>
          <a:lstStyle/>
          <a:p>
            <a:pPr>
              <a:defRPr sz="950" b="1">
                <a:solidFill>
                  <a:srgbClr val="0F1F38"/>
                </a:solidFill>
                <a:latin typeface="Arial"/>
              </a:defRPr>
            </a:pPr>
            <a:r>
              <a:t>Replaces power-hungry FP multipliers with integer adder trees</a:t>
            </a:r>
          </a:p>
        </p:txBody>
      </p:sp>
      <p:sp>
        <p:nvSpPr>
          <p:cNvPr id="26" name="Rectangle 25"/>
          <p:cNvSpPr/>
          <p:nvPr/>
        </p:nvSpPr>
        <p:spPr>
          <a:xfrm>
            <a:off x="8065008" y="1353312"/>
            <a:ext cx="3575304" cy="4983480"/>
          </a:xfrm>
          <a:prstGeom prst="rect">
            <a:avLst/>
          </a:prstGeom>
          <a:solidFill>
            <a:srgbClr val="FFFFFF"/>
          </a:solidFill>
          <a:ln w="15240">
            <a:solidFill>
              <a:srgbClr val="DCE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065008" y="1353312"/>
            <a:ext cx="3575304" cy="329184"/>
          </a:xfrm>
          <a:prstGeom prst="rect">
            <a:avLst/>
          </a:prstGeom>
          <a:solidFill>
            <a:srgbClr val="0F1F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11312" y="1417320"/>
            <a:ext cx="3282696" cy="219456"/>
          </a:xfrm>
          <a:prstGeom prst="rect">
            <a:avLst/>
          </a:prstGeom>
          <a:noFill/>
        </p:spPr>
        <p:txBody>
          <a:bodyPr wrap="none" lIns="0" tIns="0" rIns="0" bIns="0">
            <a:spAutoFit/>
          </a:bodyPr>
          <a:lstStyle/>
          <a:p>
            <a:pPr>
              <a:defRPr sz="900" b="1">
                <a:solidFill>
                  <a:srgbClr val="FFFFFF"/>
                </a:solidFill>
                <a:latin typeface="Arial"/>
              </a:defRPr>
            </a:pPr>
            <a:r>
              <a:t>3. THE QUANTIZATION SPECTRUM GAP</a:t>
            </a:r>
          </a:p>
        </p:txBody>
      </p:sp>
      <p:sp>
        <p:nvSpPr>
          <p:cNvPr id="29" name="TextBox 28"/>
          <p:cNvSpPr txBox="1"/>
          <p:nvPr/>
        </p:nvSpPr>
        <p:spPr>
          <a:xfrm>
            <a:off x="8229600" y="1773936"/>
            <a:ext cx="3246120" cy="4014216"/>
          </a:xfrm>
          <a:prstGeom prst="rect">
            <a:avLst/>
          </a:prstGeom>
          <a:noFill/>
        </p:spPr>
        <p:txBody>
          <a:bodyPr wrap="square" lIns="0" tIns="0" rIns="0" bIns="0">
            <a:spAutoFit/>
          </a:bodyPr>
          <a:lstStyle/>
          <a:p>
            <a:pPr>
              <a:spcAft>
                <a:spcPts val="800"/>
              </a:spcAft>
            </a:pPr>
            <a:r>
              <a:rPr sz="1100" b="1">
                <a:solidFill>
                  <a:srgbClr val="1E63EC"/>
                </a:solidFill>
                <a:latin typeface="Arial"/>
              </a:rPr>
              <a:t>▪ </a:t>
            </a:r>
            <a:r>
              <a:rPr sz="1100" b="1">
                <a:solidFill>
                  <a:srgbClr val="0F1F38"/>
                </a:solidFill>
                <a:latin typeface="Arial"/>
              </a:rPr>
              <a:t>PTQ Failure (&lt;3 Bits):</a:t>
            </a:r>
            <a:r>
              <a:rPr sz="1100" b="0">
                <a:solidFill>
                  <a:srgbClr val="0F172A"/>
                </a:solidFill>
                <a:latin typeface="Calibri"/>
              </a:rPr>
              <a:t> Post-training quantization (GPTQ, AWQ) works at 4 bits, but catastrophically diverges below 3 bits.</a:t>
            </a:r>
          </a:p>
          <a:p>
            <a:pPr>
              <a:spcAft>
                <a:spcPts val="800"/>
              </a:spcAft>
            </a:pPr>
            <a:r>
              <a:rPr sz="1100" b="1">
                <a:solidFill>
                  <a:srgbClr val="1E63EC"/>
                </a:solidFill>
                <a:latin typeface="Arial"/>
              </a:rPr>
              <a:t>▪ </a:t>
            </a:r>
            <a:r>
              <a:rPr sz="1100" b="1">
                <a:solidFill>
                  <a:srgbClr val="0F1F38"/>
                </a:solidFill>
                <a:latin typeface="Arial"/>
              </a:rPr>
              <a:t>No Gradient Loop in PTQ:</a:t>
            </a:r>
            <a:r>
              <a:rPr sz="1100" b="0">
                <a:solidFill>
                  <a:srgbClr val="0F172A"/>
                </a:solidFill>
                <a:latin typeface="Calibri"/>
              </a:rPr>
              <a:t> Rounding errors compound across 30 transformer layers.</a:t>
            </a:r>
          </a:p>
          <a:p>
            <a:pPr>
              <a:spcAft>
                <a:spcPts val="800"/>
              </a:spcAft>
            </a:pPr>
            <a:r>
              <a:rPr sz="1100" b="1">
                <a:solidFill>
                  <a:srgbClr val="1E63EC"/>
                </a:solidFill>
                <a:latin typeface="Arial"/>
              </a:rPr>
              <a:t>▪ </a:t>
            </a:r>
            <a:r>
              <a:rPr sz="1100" b="1">
                <a:solidFill>
                  <a:srgbClr val="0F1F38"/>
                </a:solidFill>
                <a:latin typeface="Arial"/>
              </a:rPr>
              <a:t>Binary Networks Lack Zero:</a:t>
            </a:r>
            <a:r>
              <a:rPr sz="1100" b="0">
                <a:solidFill>
                  <a:srgbClr val="0F172A"/>
                </a:solidFill>
                <a:latin typeface="Calibri"/>
              </a:rPr>
              <a:t> 1-bit BNNs {-1, +1} cannot prune inactive neurons.</a:t>
            </a:r>
          </a:p>
          <a:p>
            <a:pPr>
              <a:spcAft>
                <a:spcPts val="800"/>
              </a:spcAft>
            </a:pPr>
            <a:r>
              <a:rPr sz="1100" b="1">
                <a:solidFill>
                  <a:srgbClr val="1E63EC"/>
                </a:solidFill>
                <a:latin typeface="Arial"/>
              </a:rPr>
              <a:t>▪ </a:t>
            </a:r>
            <a:r>
              <a:rPr sz="1100" b="1">
                <a:solidFill>
                  <a:srgbClr val="0F1F38"/>
                </a:solidFill>
                <a:latin typeface="Arial"/>
              </a:rPr>
              <a:t>Our Solution (QAT-TD):</a:t>
            </a:r>
            <a:r>
              <a:rPr sz="1100" b="0">
                <a:solidFill>
                  <a:srgbClr val="0F172A"/>
                </a:solidFill>
                <a:latin typeface="Calibri"/>
              </a:rPr>
              <a:t> Straight-Through Estimators + Soft Teacher KD regularize discrete weights to prevent mode collapse.</a:t>
            </a:r>
          </a:p>
        </p:txBody>
      </p:sp>
      <p:sp>
        <p:nvSpPr>
          <p:cNvPr id="30" name="Rectangle 29"/>
          <p:cNvSpPr/>
          <p:nvPr/>
        </p:nvSpPr>
        <p:spPr>
          <a:xfrm>
            <a:off x="8211312" y="5916168"/>
            <a:ext cx="3282696" cy="329184"/>
          </a:xfrm>
          <a:prstGeom prst="rect">
            <a:avLst/>
          </a:prstGeom>
          <a:solidFill>
            <a:srgbClr val="F1F5F9"/>
          </a:solidFill>
          <a:ln w="12700">
            <a:solidFill>
              <a:srgbClr val="DCE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211312" y="5916168"/>
            <a:ext cx="50800" cy="329184"/>
          </a:xfrm>
          <a:prstGeom prst="rect">
            <a:avLst/>
          </a:prstGeom>
          <a:solidFill>
            <a:srgbClr val="1E63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84464" y="5971032"/>
            <a:ext cx="3118104" cy="219456"/>
          </a:xfrm>
          <a:prstGeom prst="rect">
            <a:avLst/>
          </a:prstGeom>
          <a:noFill/>
        </p:spPr>
        <p:txBody>
          <a:bodyPr wrap="none" lIns="0" tIns="0" rIns="0" bIns="0">
            <a:spAutoFit/>
          </a:bodyPr>
          <a:lstStyle/>
          <a:p>
            <a:pPr>
              <a:defRPr sz="950" b="1">
                <a:solidFill>
                  <a:srgbClr val="0F1F38"/>
                </a:solidFill>
                <a:latin typeface="Arial"/>
              </a:defRPr>
            </a:pPr>
            <a:r>
              <a:t>PTQ collapses below 3 bits -&gt; Retraining with KD is strictly mandatory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0F1F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82880"/>
            <a:ext cx="11094415" cy="219456"/>
          </a:xfrm>
          <a:prstGeom prst="rect">
            <a:avLst/>
          </a:prstGeom>
          <a:noFill/>
        </p:spPr>
        <p:txBody>
          <a:bodyPr wrap="none" lIns="0" tIns="0" rIns="0" bIns="0">
            <a:spAutoFit/>
          </a:bodyPr>
          <a:lstStyle/>
          <a:p>
            <a:pPr>
              <a:defRPr sz="900" b="1">
                <a:solidFill>
                  <a:srgbClr val="1E63EC"/>
                </a:solidFill>
                <a:latin typeface="Arial"/>
              </a:defRPr>
            </a:pPr>
            <a:r>
              <a:t>03  ·  PROBLEM STATEMENT</a:t>
            </a:r>
          </a:p>
        </p:txBody>
      </p:sp>
      <p:sp>
        <p:nvSpPr>
          <p:cNvPr id="5" name="TextBox 4"/>
          <p:cNvSpPr txBox="1"/>
          <p:nvPr/>
        </p:nvSpPr>
        <p:spPr>
          <a:xfrm>
            <a:off x="548640" y="384048"/>
            <a:ext cx="11094415" cy="420624"/>
          </a:xfrm>
          <a:prstGeom prst="rect">
            <a:avLst/>
          </a:prstGeom>
          <a:noFill/>
        </p:spPr>
        <p:txBody>
          <a:bodyPr wrap="none" lIns="0" tIns="0" rIns="0" bIns="0">
            <a:spAutoFit/>
          </a:bodyPr>
          <a:lstStyle/>
          <a:p>
            <a:pPr>
              <a:defRPr sz="2000" b="1">
                <a:solidFill>
                  <a:srgbClr val="0F1F38"/>
                </a:solidFill>
                <a:latin typeface="Arial"/>
              </a:defRPr>
            </a:pPr>
            <a:r>
              <a:t>The Edge Memory Bandwidth Wall &amp; Quantization Collapse</a:t>
            </a:r>
          </a:p>
        </p:txBody>
      </p:sp>
      <p:sp>
        <p:nvSpPr>
          <p:cNvPr id="6" name="Rectangle 5"/>
          <p:cNvSpPr/>
          <p:nvPr/>
        </p:nvSpPr>
        <p:spPr>
          <a:xfrm>
            <a:off x="548640" y="841248"/>
            <a:ext cx="11094415" cy="384048"/>
          </a:xfrm>
          <a:prstGeom prst="rect">
            <a:avLst/>
          </a:prstGeom>
          <a:solidFill>
            <a:srgbClr val="EEF4FF"/>
          </a:solidFill>
          <a:ln w="12700">
            <a:solidFill>
              <a:srgbClr val="B9D3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841248"/>
            <a:ext cx="63500" cy="384048"/>
          </a:xfrm>
          <a:prstGeom prst="rect">
            <a:avLst/>
          </a:prstGeom>
          <a:solidFill>
            <a:srgbClr val="1E63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896112"/>
            <a:ext cx="10865815" cy="274320"/>
          </a:xfrm>
          <a:prstGeom prst="rect">
            <a:avLst/>
          </a:prstGeom>
          <a:noFill/>
        </p:spPr>
        <p:txBody>
          <a:bodyPr wrap="square" lIns="0" tIns="0" rIns="0" bIns="0">
            <a:spAutoFit/>
          </a:bodyPr>
          <a:lstStyle/>
          <a:p>
            <a:r>
              <a:rPr sz="1000" b="1">
                <a:solidFill>
                  <a:srgbClr val="1E63EC"/>
                </a:solidFill>
                <a:latin typeface="Arial"/>
              </a:rPr>
              <a:t>KEY TAKEAWAY:  </a:t>
            </a:r>
            <a:r>
              <a:rPr sz="1000" b="1">
                <a:solidFill>
                  <a:srgbClr val="0F1F38"/>
                </a:solidFill>
                <a:latin typeface="Calibri"/>
              </a:rPr>
              <a:t>Generative LLMs are memory-bandwidth bound; shrinking them below 2 bits causes severe discretization collapse without teacher guidance.</a:t>
            </a:r>
          </a:p>
        </p:txBody>
      </p:sp>
      <p:sp>
        <p:nvSpPr>
          <p:cNvPr id="9" name="Rectangle 8"/>
          <p:cNvSpPr/>
          <p:nvPr/>
        </p:nvSpPr>
        <p:spPr>
          <a:xfrm>
            <a:off x="548640" y="6446520"/>
            <a:ext cx="11094415" cy="12700"/>
          </a:xfrm>
          <a:prstGeom prst="rect">
            <a:avLst/>
          </a:prstGeom>
          <a:solidFill>
            <a:srgbClr val="DCE3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6501384"/>
            <a:ext cx="8686800" cy="256032"/>
          </a:xfrm>
          <a:prstGeom prst="rect">
            <a:avLst/>
          </a:prstGeom>
          <a:noFill/>
        </p:spPr>
        <p:txBody>
          <a:bodyPr wrap="none" lIns="0" tIns="0" rIns="0" bIns="0">
            <a:spAutoFit/>
          </a:bodyPr>
          <a:lstStyle/>
          <a:p>
            <a:pPr>
              <a:defRPr sz="800" b="1">
                <a:solidFill>
                  <a:srgbClr val="475569"/>
                </a:solidFill>
                <a:latin typeface="Arial"/>
              </a:defRPr>
            </a:pPr>
            <a:r>
              <a:t>MAYANK RANA (24U021026)  ·  GUIDE: DR. YATENDRA SAHU  ·  IIIT BHOPAL  ·  GITHUB: https://github.com/Mayank-Rana1/llm_quantization</a:t>
            </a:r>
          </a:p>
        </p:txBody>
      </p:sp>
      <p:sp>
        <p:nvSpPr>
          <p:cNvPr id="11" name="TextBox 10"/>
          <p:cNvSpPr txBox="1"/>
          <p:nvPr/>
        </p:nvSpPr>
        <p:spPr>
          <a:xfrm>
            <a:off x="9357055" y="6501384"/>
            <a:ext cx="2286000" cy="256032"/>
          </a:xfrm>
          <a:prstGeom prst="rect">
            <a:avLst/>
          </a:prstGeom>
          <a:noFill/>
        </p:spPr>
        <p:txBody>
          <a:bodyPr wrap="none" lIns="0" tIns="0" rIns="0" bIns="0">
            <a:spAutoFit/>
          </a:bodyPr>
          <a:lstStyle/>
          <a:p>
            <a:pPr algn="r">
              <a:defRPr sz="850" b="1">
                <a:solidFill>
                  <a:srgbClr val="0F1F38"/>
                </a:solidFill>
                <a:latin typeface="Arial"/>
              </a:defRPr>
            </a:pPr>
            <a:r>
              <a:t>SLIDE 03 OF 09</a:t>
            </a:r>
          </a:p>
        </p:txBody>
      </p:sp>
      <p:sp>
        <p:nvSpPr>
          <p:cNvPr id="12" name="Rectangle 11"/>
          <p:cNvSpPr/>
          <p:nvPr/>
        </p:nvSpPr>
        <p:spPr>
          <a:xfrm>
            <a:off x="548640" y="1353312"/>
            <a:ext cx="4480560" cy="4983480"/>
          </a:xfrm>
          <a:prstGeom prst="rect">
            <a:avLst/>
          </a:prstGeom>
          <a:solidFill>
            <a:srgbClr val="FFFFFF"/>
          </a:solidFill>
          <a:ln w="15240">
            <a:solidFill>
              <a:srgbClr val="DCE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353312"/>
            <a:ext cx="4480560" cy="329184"/>
          </a:xfrm>
          <a:prstGeom prst="rect">
            <a:avLst/>
          </a:prstGeom>
          <a:solidFill>
            <a:srgbClr val="0F1F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4944" y="1417320"/>
            <a:ext cx="4187952" cy="219456"/>
          </a:xfrm>
          <a:prstGeom prst="rect">
            <a:avLst/>
          </a:prstGeom>
          <a:noFill/>
        </p:spPr>
        <p:txBody>
          <a:bodyPr wrap="none" lIns="0" tIns="0" rIns="0" bIns="0">
            <a:spAutoFit/>
          </a:bodyPr>
          <a:lstStyle/>
          <a:p>
            <a:pPr>
              <a:defRPr sz="900" b="1">
                <a:solidFill>
                  <a:srgbClr val="FFFFFF"/>
                </a:solidFill>
                <a:latin typeface="Arial"/>
              </a:defRPr>
            </a:pPr>
            <a:r>
              <a:t>CORE ENGINEERING PROBLEM DEFINITION</a:t>
            </a:r>
          </a:p>
        </p:txBody>
      </p:sp>
      <p:sp>
        <p:nvSpPr>
          <p:cNvPr id="15" name="TextBox 14"/>
          <p:cNvSpPr txBox="1"/>
          <p:nvPr/>
        </p:nvSpPr>
        <p:spPr>
          <a:xfrm>
            <a:off x="713232" y="1773936"/>
            <a:ext cx="4151376" cy="4014216"/>
          </a:xfrm>
          <a:prstGeom prst="rect">
            <a:avLst/>
          </a:prstGeom>
          <a:noFill/>
        </p:spPr>
        <p:txBody>
          <a:bodyPr wrap="square" lIns="0" tIns="0" rIns="0" bIns="0">
            <a:spAutoFit/>
          </a:bodyPr>
          <a:lstStyle/>
          <a:p>
            <a:pPr>
              <a:spcAft>
                <a:spcPts val="800"/>
              </a:spcAft>
            </a:pPr>
            <a:r>
              <a:rPr sz="1100" b="1">
                <a:solidFill>
                  <a:srgbClr val="1E63EC"/>
                </a:solidFill>
                <a:latin typeface="Arial"/>
              </a:rPr>
              <a:t>▪ </a:t>
            </a:r>
            <a:r>
              <a:rPr sz="1100" b="1">
                <a:solidFill>
                  <a:srgbClr val="0F1F38"/>
                </a:solidFill>
                <a:latin typeface="Arial"/>
              </a:rPr>
              <a:t>The Memory Streaming Wall:</a:t>
            </a:r>
            <a:r>
              <a:rPr sz="1100" b="0">
                <a:solidFill>
                  <a:srgbClr val="0F172A"/>
                </a:solidFill>
                <a:latin typeface="Calibri"/>
              </a:rPr>
              <a:t> Autoregressive decoding requires reading all weights from memory once per token:
  Bandwidth: B = P · (b / 8) · f_token</a:t>
            </a:r>
          </a:p>
          <a:p>
            <a:pPr>
              <a:spcAft>
                <a:spcPts val="800"/>
              </a:spcAft>
            </a:pPr>
            <a:r>
              <a:rPr sz="1100" b="1">
                <a:solidFill>
                  <a:srgbClr val="1E63EC"/>
                </a:solidFill>
                <a:latin typeface="Arial"/>
              </a:rPr>
              <a:t>▪ </a:t>
            </a:r>
            <a:r>
              <a:rPr sz="1100" b="1">
                <a:solidFill>
                  <a:srgbClr val="0F1F38"/>
                </a:solidFill>
                <a:latin typeface="Arial"/>
              </a:rPr>
              <a:t>The Hardware Mismatch:</a:t>
            </a:r>
            <a:r>
              <a:rPr sz="1100" b="0">
                <a:solidFill>
                  <a:srgbClr val="0F172A"/>
                </a:solidFill>
                <a:latin typeface="Calibri"/>
              </a:rPr>
              <a:t>
  ▪ SmolLM-135M in standard FP16: 256.6 MB footprint.
  ▪ Bandwidth needed at 30 tok/s: 7.70 GB/s.
  ▪ Available on-chip edge SRAM: Only 32–64 MB!</a:t>
            </a:r>
          </a:p>
          <a:p>
            <a:pPr>
              <a:spcAft>
                <a:spcPts val="800"/>
              </a:spcAft>
            </a:pPr>
            <a:r>
              <a:rPr sz="1100" b="1">
                <a:solidFill>
                  <a:srgbClr val="1E63EC"/>
                </a:solidFill>
                <a:latin typeface="Arial"/>
              </a:rPr>
              <a:t>▪ </a:t>
            </a:r>
            <a:r>
              <a:rPr sz="1100" b="1">
                <a:solidFill>
                  <a:srgbClr val="0F1F38"/>
                </a:solidFill>
                <a:latin typeface="Arial"/>
              </a:rPr>
              <a:t>The Energy Penalty:</a:t>
            </a:r>
            <a:r>
              <a:rPr sz="1100" b="0">
                <a:solidFill>
                  <a:srgbClr val="0F172A"/>
                </a:solidFill>
                <a:latin typeface="Calibri"/>
              </a:rPr>
              <a:t> Reading external DRAM burns up to 100x more energy per bit than on-chip SRAM registers.</a:t>
            </a:r>
          </a:p>
          <a:p>
            <a:pPr>
              <a:spcAft>
                <a:spcPts val="800"/>
              </a:spcAft>
            </a:pPr>
            <a:r>
              <a:rPr sz="1100" b="1">
                <a:solidFill>
                  <a:srgbClr val="1E63EC"/>
                </a:solidFill>
                <a:latin typeface="Arial"/>
              </a:rPr>
              <a:t>▪ </a:t>
            </a:r>
            <a:r>
              <a:rPr sz="1100" b="1">
                <a:solidFill>
                  <a:srgbClr val="0F1F38"/>
                </a:solidFill>
                <a:latin typeface="Arial"/>
              </a:rPr>
              <a:t>The Optimization Barrier:</a:t>
            </a:r>
            <a:r>
              <a:rPr sz="1100" b="0">
                <a:solidFill>
                  <a:srgbClr val="0F172A"/>
                </a:solidFill>
                <a:latin typeface="Calibri"/>
              </a:rPr>
              <a:t> Snapping weights to discrete ternary states is non-differentiable (derivative is 0), causing mode collapse.</a:t>
            </a:r>
          </a:p>
          <a:p>
            <a:pPr>
              <a:spcAft>
                <a:spcPts val="800"/>
              </a:spcAft>
            </a:pPr>
            <a:r>
              <a:rPr sz="1100" b="1">
                <a:solidFill>
                  <a:srgbClr val="1E63EC"/>
                </a:solidFill>
                <a:latin typeface="Arial"/>
              </a:rPr>
              <a:t>▪ </a:t>
            </a:r>
            <a:r>
              <a:rPr sz="1100" b="1">
                <a:solidFill>
                  <a:srgbClr val="0F1F38"/>
                </a:solidFill>
                <a:latin typeface="Arial"/>
              </a:rPr>
              <a:t>Research Question:</a:t>
            </a:r>
            <a:r>
              <a:rPr sz="1100" b="0">
                <a:solidFill>
                  <a:srgbClr val="0F172A"/>
                </a:solidFill>
                <a:latin typeface="Calibri"/>
              </a:rPr>
              <a:t> Can teacher knowledge distillation act as a regularizer to stabilize discrete 1.58-bit training?</a:t>
            </a:r>
          </a:p>
        </p:txBody>
      </p:sp>
      <p:sp>
        <p:nvSpPr>
          <p:cNvPr id="16" name="Rectangle 15"/>
          <p:cNvSpPr/>
          <p:nvPr/>
        </p:nvSpPr>
        <p:spPr>
          <a:xfrm>
            <a:off x="694944" y="5916168"/>
            <a:ext cx="4187952" cy="329184"/>
          </a:xfrm>
          <a:prstGeom prst="rect">
            <a:avLst/>
          </a:prstGeom>
          <a:solidFill>
            <a:srgbClr val="F1F5F9"/>
          </a:solidFill>
          <a:ln w="12700">
            <a:solidFill>
              <a:srgbClr val="DCE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94944" y="5916168"/>
            <a:ext cx="50800" cy="329184"/>
          </a:xfrm>
          <a:prstGeom prst="rect">
            <a:avLst/>
          </a:prstGeom>
          <a:solidFill>
            <a:srgbClr val="1E63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8096" y="5971032"/>
            <a:ext cx="4023360" cy="219456"/>
          </a:xfrm>
          <a:prstGeom prst="rect">
            <a:avLst/>
          </a:prstGeom>
          <a:noFill/>
        </p:spPr>
        <p:txBody>
          <a:bodyPr wrap="none" lIns="0" tIns="0" rIns="0" bIns="0">
            <a:spAutoFit/>
          </a:bodyPr>
          <a:lstStyle/>
          <a:p>
            <a:pPr>
              <a:defRPr sz="950" b="1">
                <a:solidFill>
                  <a:srgbClr val="0F1F38"/>
                </a:solidFill>
                <a:latin typeface="Arial"/>
              </a:defRPr>
            </a:pPr>
            <a:r>
              <a:t>Target Envelope: Must compress the core below 32 MB to fit inside fast SRAM</a:t>
            </a:r>
          </a:p>
        </p:txBody>
      </p:sp>
      <p:graphicFrame>
        <p:nvGraphicFramePr>
          <p:cNvPr id="19" name="Table 18"/>
          <p:cNvGraphicFramePr>
            <a:graphicFrameLocks noGrp="1"/>
          </p:cNvGraphicFramePr>
          <p:nvPr/>
        </p:nvGraphicFramePr>
        <p:xfrm>
          <a:off x="5212080" y="1353312"/>
          <a:ext cx="6430974" cy="4983480"/>
        </p:xfrm>
        <a:graphic>
          <a:graphicData uri="http://schemas.openxmlformats.org/drawingml/2006/table">
            <a:tbl>
              <a:tblPr firstRow="1" bandRow="1">
                <a:tableStyleId>{5C22544A-7EE6-4342-B048-85BDC9FD1C3A}</a:tableStyleId>
              </a:tblPr>
              <a:tblGrid>
                <a:gridCol w="1414814"/>
                <a:gridCol w="1414814"/>
                <a:gridCol w="1286195"/>
                <a:gridCol w="1028956"/>
                <a:gridCol w="1286195"/>
              </a:tblGrid>
              <a:tr h="830580">
                <a:tc>
                  <a:txBody>
                    <a:bodyPr/>
                    <a:lstStyle/>
                    <a:p>
                      <a:pPr>
                        <a:defRPr sz="850" b="1">
                          <a:solidFill>
                            <a:srgbClr val="FFFFFF"/>
                          </a:solidFill>
                          <a:latin typeface="Arial"/>
                        </a:defRPr>
                      </a:pPr>
                      <a:r>
                        <a:t>PRECISION REGIME</a:t>
                      </a:r>
                    </a:p>
                  </a:txBody>
                  <a:tcPr anchor="ctr" marL="73152" marR="73152" marT="36576" marB="36576">
                    <a:solidFill>
                      <a:srgbClr val="0F1F38"/>
                    </a:solidFill>
                  </a:tcPr>
                </a:tc>
                <a:tc>
                  <a:txBody>
                    <a:bodyPr/>
                    <a:lstStyle/>
                    <a:p>
                      <a:pPr>
                        <a:defRPr sz="850" b="1">
                          <a:solidFill>
                            <a:srgbClr val="FFFFFF"/>
                          </a:solidFill>
                          <a:latin typeface="Arial"/>
                        </a:defRPr>
                      </a:pPr>
                      <a:r>
                        <a:t>WEIGHT REPRESENTATION</a:t>
                      </a:r>
                    </a:p>
                  </a:txBody>
                  <a:tcPr anchor="ctr" marL="73152" marR="73152" marT="36576" marB="36576">
                    <a:solidFill>
                      <a:srgbClr val="0F1F38"/>
                    </a:solidFill>
                  </a:tcPr>
                </a:tc>
                <a:tc>
                  <a:txBody>
                    <a:bodyPr/>
                    <a:lstStyle/>
                    <a:p>
                      <a:pPr>
                        <a:defRPr sz="850" b="1">
                          <a:solidFill>
                            <a:srgbClr val="FFFFFF"/>
                          </a:solidFill>
                          <a:latin typeface="Arial"/>
                        </a:defRPr>
                      </a:pPr>
                      <a:r>
                        <a:t>ARITHMETIC UNIT</a:t>
                      </a:r>
                    </a:p>
                  </a:txBody>
                  <a:tcPr anchor="ctr" marL="73152" marR="73152" marT="36576" marB="36576">
                    <a:solidFill>
                      <a:srgbClr val="0F1F38"/>
                    </a:solidFill>
                  </a:tcPr>
                </a:tc>
                <a:tc>
                  <a:txBody>
                    <a:bodyPr/>
                    <a:lstStyle/>
                    <a:p>
                      <a:pPr>
                        <a:defRPr sz="850" b="1">
                          <a:solidFill>
                            <a:srgbClr val="FFFFFF"/>
                          </a:solidFill>
                          <a:latin typeface="Arial"/>
                        </a:defRPr>
                      </a:pPr>
                      <a:r>
                        <a:t>SILICON ENERGY</a:t>
                      </a:r>
                    </a:p>
                  </a:txBody>
                  <a:tcPr anchor="ctr" marL="73152" marR="73152" marT="36576" marB="36576">
                    <a:solidFill>
                      <a:srgbClr val="0F1F38"/>
                    </a:solidFill>
                  </a:tcPr>
                </a:tc>
                <a:tc>
                  <a:txBody>
                    <a:bodyPr/>
                    <a:lstStyle/>
                    <a:p>
                      <a:pPr>
                        <a:defRPr sz="850" b="1">
                          <a:solidFill>
                            <a:srgbClr val="FFFFFF"/>
                          </a:solidFill>
                          <a:latin typeface="Arial"/>
                        </a:defRPr>
                      </a:pPr>
                      <a:r>
                        <a:t>EDGE REALITY BELOW 3 BITS</a:t>
                      </a:r>
                    </a:p>
                  </a:txBody>
                  <a:tcPr anchor="ctr" marL="73152" marR="73152" marT="36576" marB="36576">
                    <a:solidFill>
                      <a:srgbClr val="0F1F38"/>
                    </a:solidFill>
                  </a:tcPr>
                </a:tc>
              </a:tr>
              <a:tr h="830580">
                <a:tc>
                  <a:txBody>
                    <a:bodyPr/>
                    <a:lstStyle/>
                    <a:p>
                      <a:pPr>
                        <a:defRPr sz="950" b="1">
                          <a:solidFill>
                            <a:srgbClr val="0F1F38"/>
                          </a:solidFill>
                          <a:latin typeface="Calibri"/>
                        </a:defRPr>
                      </a:pPr>
                      <a:r>
                        <a:t>Standard FP32</a:t>
                      </a:r>
                    </a:p>
                  </a:txBody>
                  <a:tcPr anchor="ctr" marL="73152" marR="73152" marT="36576" marB="36576">
                    <a:solidFill>
                      <a:srgbClr val="FFFFFF"/>
                    </a:solidFill>
                  </a:tcPr>
                </a:tc>
                <a:tc>
                  <a:txBody>
                    <a:bodyPr/>
                    <a:lstStyle/>
                    <a:p>
                      <a:pPr>
                        <a:defRPr sz="950" b="0">
                          <a:solidFill>
                            <a:srgbClr val="0F172A"/>
                          </a:solidFill>
                          <a:latin typeface="Calibri"/>
                        </a:defRPr>
                      </a:pPr>
                      <a:r>
                        <a:t>32-bit Float</a:t>
                      </a:r>
                    </a:p>
                  </a:txBody>
                  <a:tcPr anchor="ctr" marL="73152" marR="73152" marT="36576" marB="36576">
                    <a:solidFill>
                      <a:srgbClr val="FFFFFF"/>
                    </a:solidFill>
                  </a:tcPr>
                </a:tc>
                <a:tc>
                  <a:txBody>
                    <a:bodyPr/>
                    <a:lstStyle/>
                    <a:p>
                      <a:pPr>
                        <a:defRPr sz="950" b="0">
                          <a:solidFill>
                            <a:srgbClr val="0F172A"/>
                          </a:solidFill>
                          <a:latin typeface="Calibri"/>
                        </a:defRPr>
                      </a:pPr>
                      <a:r>
                        <a:t>FP Multipliers</a:t>
                      </a:r>
                    </a:p>
                  </a:txBody>
                  <a:tcPr anchor="ctr" marL="73152" marR="73152" marT="36576" marB="36576">
                    <a:solidFill>
                      <a:srgbClr val="FFFFFF"/>
                    </a:solidFill>
                  </a:tcPr>
                </a:tc>
                <a:tc>
                  <a:txBody>
                    <a:bodyPr/>
                    <a:lstStyle/>
                    <a:p>
                      <a:pPr>
                        <a:defRPr sz="950" b="0">
                          <a:solidFill>
                            <a:srgbClr val="0F172A"/>
                          </a:solidFill>
                          <a:latin typeface="Calibri"/>
                        </a:defRPr>
                      </a:pPr>
                      <a:r>
                        <a:t>4.60 pJ (MAC)</a:t>
                      </a:r>
                    </a:p>
                  </a:txBody>
                  <a:tcPr anchor="ctr" marL="73152" marR="73152" marT="36576" marB="36576">
                    <a:solidFill>
                      <a:srgbClr val="FFFFFF"/>
                    </a:solidFill>
                  </a:tcPr>
                </a:tc>
                <a:tc>
                  <a:txBody>
                    <a:bodyPr/>
                    <a:lstStyle/>
                    <a:p>
                      <a:pPr>
                        <a:defRPr sz="950" b="0">
                          <a:solidFill>
                            <a:srgbClr val="0F172A"/>
                          </a:solidFill>
                          <a:latin typeface="Calibri"/>
                        </a:defRPr>
                      </a:pPr>
                      <a:r>
                        <a:t>Cloud/Desktop only; 513 MB memory footprint</a:t>
                      </a:r>
                    </a:p>
                  </a:txBody>
                  <a:tcPr anchor="ctr" marL="73152" marR="73152" marT="36576" marB="36576">
                    <a:solidFill>
                      <a:srgbClr val="FFFFFF"/>
                    </a:solidFill>
                  </a:tcPr>
                </a:tc>
              </a:tr>
              <a:tr h="830580">
                <a:tc>
                  <a:txBody>
                    <a:bodyPr/>
                    <a:lstStyle/>
                    <a:p>
                      <a:pPr>
                        <a:defRPr sz="950" b="1">
                          <a:solidFill>
                            <a:srgbClr val="0F1F38"/>
                          </a:solidFill>
                          <a:latin typeface="Calibri"/>
                        </a:defRPr>
                      </a:pPr>
                      <a:r>
                        <a:t>Baseline FP16</a:t>
                      </a:r>
                    </a:p>
                  </a:txBody>
                  <a:tcPr anchor="ctr" marL="73152" marR="73152" marT="36576" marB="36576">
                    <a:solidFill>
                      <a:srgbClr val="F1F5F9"/>
                    </a:solidFill>
                  </a:tcPr>
                </a:tc>
                <a:tc>
                  <a:txBody>
                    <a:bodyPr/>
                    <a:lstStyle/>
                    <a:p>
                      <a:pPr>
                        <a:defRPr sz="950" b="0">
                          <a:solidFill>
                            <a:srgbClr val="0F172A"/>
                          </a:solidFill>
                          <a:latin typeface="Calibri"/>
                        </a:defRPr>
                      </a:pPr>
                      <a:r>
                        <a:t>16-bit Float</a:t>
                      </a:r>
                    </a:p>
                  </a:txBody>
                  <a:tcPr anchor="ctr" marL="73152" marR="73152" marT="36576" marB="36576">
                    <a:solidFill>
                      <a:srgbClr val="F1F5F9"/>
                    </a:solidFill>
                  </a:tcPr>
                </a:tc>
                <a:tc>
                  <a:txBody>
                    <a:bodyPr/>
                    <a:lstStyle/>
                    <a:p>
                      <a:pPr>
                        <a:defRPr sz="950" b="0">
                          <a:solidFill>
                            <a:srgbClr val="0F172A"/>
                          </a:solidFill>
                          <a:latin typeface="Calibri"/>
                        </a:defRPr>
                      </a:pPr>
                      <a:r>
                        <a:t>Half-FP Multipliers</a:t>
                      </a:r>
                    </a:p>
                  </a:txBody>
                  <a:tcPr anchor="ctr" marL="73152" marR="73152" marT="36576" marB="36576">
                    <a:solidFill>
                      <a:srgbClr val="F1F5F9"/>
                    </a:solidFill>
                  </a:tcPr>
                </a:tc>
                <a:tc>
                  <a:txBody>
                    <a:bodyPr/>
                    <a:lstStyle/>
                    <a:p>
                      <a:pPr>
                        <a:defRPr sz="950" b="0">
                          <a:solidFill>
                            <a:srgbClr val="0F172A"/>
                          </a:solidFill>
                          <a:latin typeface="Calibri"/>
                        </a:defRPr>
                      </a:pPr>
                      <a:r>
                        <a:t>1.10 pJ (MAC)</a:t>
                      </a:r>
                    </a:p>
                  </a:txBody>
                  <a:tcPr anchor="ctr" marL="73152" marR="73152" marT="36576" marB="36576">
                    <a:solidFill>
                      <a:srgbClr val="F1F5F9"/>
                    </a:solidFill>
                  </a:tcPr>
                </a:tc>
                <a:tc>
                  <a:txBody>
                    <a:bodyPr/>
                    <a:lstStyle/>
                    <a:p>
                      <a:pPr>
                        <a:defRPr sz="950" b="0">
                          <a:solidFill>
                            <a:srgbClr val="0F172A"/>
                          </a:solidFill>
                          <a:latin typeface="Calibri"/>
                        </a:defRPr>
                      </a:pPr>
                      <a:r>
                        <a:t>256.6 MB; overflows 32-64 MB edge SRAM</a:t>
                      </a:r>
                    </a:p>
                  </a:txBody>
                  <a:tcPr anchor="ctr" marL="73152" marR="73152" marT="36576" marB="36576">
                    <a:solidFill>
                      <a:srgbClr val="F1F5F9"/>
                    </a:solidFill>
                  </a:tcPr>
                </a:tc>
              </a:tr>
              <a:tr h="830580">
                <a:tc>
                  <a:txBody>
                    <a:bodyPr/>
                    <a:lstStyle/>
                    <a:p>
                      <a:pPr>
                        <a:defRPr sz="950" b="1">
                          <a:solidFill>
                            <a:srgbClr val="0F1F38"/>
                          </a:solidFill>
                          <a:latin typeface="Calibri"/>
                        </a:defRPr>
                      </a:pPr>
                      <a:r>
                        <a:t>Post-Training (INT8/4)</a:t>
                      </a:r>
                    </a:p>
                  </a:txBody>
                  <a:tcPr anchor="ctr" marL="73152" marR="73152" marT="36576" marB="36576">
                    <a:solidFill>
                      <a:srgbClr val="FFFFFF"/>
                    </a:solidFill>
                  </a:tcPr>
                </a:tc>
                <a:tc>
                  <a:txBody>
                    <a:bodyPr/>
                    <a:lstStyle/>
                    <a:p>
                      <a:pPr>
                        <a:defRPr sz="950" b="0">
                          <a:solidFill>
                            <a:srgbClr val="0F172A"/>
                          </a:solidFill>
                          <a:latin typeface="Calibri"/>
                        </a:defRPr>
                      </a:pPr>
                      <a:r>
                        <a:t>8-bit / 4-bit Grid</a:t>
                      </a:r>
                    </a:p>
                  </a:txBody>
                  <a:tcPr anchor="ctr" marL="73152" marR="73152" marT="36576" marB="36576">
                    <a:solidFill>
                      <a:srgbClr val="FFFFFF"/>
                    </a:solidFill>
                  </a:tcPr>
                </a:tc>
                <a:tc>
                  <a:txBody>
                    <a:bodyPr/>
                    <a:lstStyle/>
                    <a:p>
                      <a:pPr>
                        <a:defRPr sz="950" b="0">
                          <a:solidFill>
                            <a:srgbClr val="0F172A"/>
                          </a:solidFill>
                          <a:latin typeface="Calibri"/>
                        </a:defRPr>
                      </a:pPr>
                      <a:r>
                        <a:t>Integer Multipliers</a:t>
                      </a:r>
                    </a:p>
                  </a:txBody>
                  <a:tcPr anchor="ctr" marL="73152" marR="73152" marT="36576" marB="36576">
                    <a:solidFill>
                      <a:srgbClr val="FFFFFF"/>
                    </a:solidFill>
                  </a:tcPr>
                </a:tc>
                <a:tc>
                  <a:txBody>
                    <a:bodyPr/>
                    <a:lstStyle/>
                    <a:p>
                      <a:pPr>
                        <a:defRPr sz="950" b="0">
                          <a:solidFill>
                            <a:srgbClr val="0F172A"/>
                          </a:solidFill>
                          <a:latin typeface="Calibri"/>
                        </a:defRPr>
                      </a:pPr>
                      <a:r>
                        <a:t>0.20 pJ (MAC)</a:t>
                      </a:r>
                    </a:p>
                  </a:txBody>
                  <a:tcPr anchor="ctr" marL="73152" marR="73152" marT="36576" marB="36576">
                    <a:solidFill>
                      <a:srgbClr val="FFFFFF"/>
                    </a:solidFill>
                  </a:tcPr>
                </a:tc>
                <a:tc>
                  <a:txBody>
                    <a:bodyPr/>
                    <a:lstStyle/>
                    <a:p>
                      <a:pPr>
                        <a:defRPr sz="950" b="0">
                          <a:solidFill>
                            <a:srgbClr val="0F172A"/>
                          </a:solidFill>
                          <a:latin typeface="Calibri"/>
                        </a:defRPr>
                      </a:pPr>
                      <a:r>
                        <a:t>Works at 4-bit; catastrophically collapses &lt; 3-bit</a:t>
                      </a:r>
                    </a:p>
                  </a:txBody>
                  <a:tcPr anchor="ctr" marL="73152" marR="73152" marT="36576" marB="36576">
                    <a:solidFill>
                      <a:srgbClr val="FFFFFF"/>
                    </a:solidFill>
                  </a:tcPr>
                </a:tc>
              </a:tr>
              <a:tr h="830580">
                <a:tc>
                  <a:txBody>
                    <a:bodyPr/>
                    <a:lstStyle/>
                    <a:p>
                      <a:pPr>
                        <a:defRPr sz="950" b="1">
                          <a:solidFill>
                            <a:srgbClr val="0F1F38"/>
                          </a:solidFill>
                          <a:latin typeface="Calibri"/>
                        </a:defRPr>
                      </a:pPr>
                      <a:r>
                        <a:t>1-Bit Binary (BNN)</a:t>
                      </a:r>
                    </a:p>
                  </a:txBody>
                  <a:tcPr anchor="ctr" marL="73152" marR="73152" marT="36576" marB="36576">
                    <a:solidFill>
                      <a:srgbClr val="F1F5F9"/>
                    </a:solidFill>
                  </a:tcPr>
                </a:tc>
                <a:tc>
                  <a:txBody>
                    <a:bodyPr/>
                    <a:lstStyle/>
                    <a:p>
                      <a:pPr>
                        <a:defRPr sz="950" b="0">
                          <a:solidFill>
                            <a:srgbClr val="0F172A"/>
                          </a:solidFill>
                          <a:latin typeface="Calibri"/>
                        </a:defRPr>
                      </a:pPr>
                      <a:r>
                        <a:t>1.0-bit {-1, +1}</a:t>
                      </a:r>
                    </a:p>
                  </a:txBody>
                  <a:tcPr anchor="ctr" marL="73152" marR="73152" marT="36576" marB="36576">
                    <a:solidFill>
                      <a:srgbClr val="F1F5F9"/>
                    </a:solidFill>
                  </a:tcPr>
                </a:tc>
                <a:tc>
                  <a:txBody>
                    <a:bodyPr/>
                    <a:lstStyle/>
                    <a:p>
                      <a:pPr>
                        <a:defRPr sz="950" b="0">
                          <a:solidFill>
                            <a:srgbClr val="0F172A"/>
                          </a:solidFill>
                          <a:latin typeface="Calibri"/>
                        </a:defRPr>
                      </a:pPr>
                      <a:r>
                        <a:t>Bitwise XNOR</a:t>
                      </a:r>
                    </a:p>
                  </a:txBody>
                  <a:tcPr anchor="ctr" marL="73152" marR="73152" marT="36576" marB="36576">
                    <a:solidFill>
                      <a:srgbClr val="F1F5F9"/>
                    </a:solidFill>
                  </a:tcPr>
                </a:tc>
                <a:tc>
                  <a:txBody>
                    <a:bodyPr/>
                    <a:lstStyle/>
                    <a:p>
                      <a:pPr>
                        <a:defRPr sz="950" b="0">
                          <a:solidFill>
                            <a:srgbClr val="0F172A"/>
                          </a:solidFill>
                          <a:latin typeface="Calibri"/>
                        </a:defRPr>
                      </a:pPr>
                      <a:r>
                        <a:t>~0.02 pJ</a:t>
                      </a:r>
                    </a:p>
                  </a:txBody>
                  <a:tcPr anchor="ctr" marL="73152" marR="73152" marT="36576" marB="36576">
                    <a:solidFill>
                      <a:srgbClr val="F1F5F9"/>
                    </a:solidFill>
                  </a:tcPr>
                </a:tc>
                <a:tc>
                  <a:txBody>
                    <a:bodyPr/>
                    <a:lstStyle/>
                    <a:p>
                      <a:pPr>
                        <a:defRPr sz="950" b="0">
                          <a:solidFill>
                            <a:srgbClr val="0F172A"/>
                          </a:solidFill>
                          <a:latin typeface="Calibri"/>
                        </a:defRPr>
                      </a:pPr>
                      <a:r>
                        <a:t>No zero state; forces noisy features active</a:t>
                      </a:r>
                    </a:p>
                  </a:txBody>
                  <a:tcPr anchor="ctr" marL="73152" marR="73152" marT="36576" marB="36576">
                    <a:solidFill>
                      <a:srgbClr val="F1F5F9"/>
                    </a:solidFill>
                  </a:tcPr>
                </a:tc>
              </a:tr>
              <a:tr h="830580">
                <a:tc>
                  <a:txBody>
                    <a:bodyPr/>
                    <a:lstStyle/>
                    <a:p>
                      <a:pPr>
                        <a:defRPr sz="950" b="1">
                          <a:solidFill>
                            <a:srgbClr val="0F1F38"/>
                          </a:solidFill>
                          <a:latin typeface="Calibri"/>
                        </a:defRPr>
                      </a:pPr>
                      <a:r>
                        <a:t>1.58-Bit QAT-TD (Ours)</a:t>
                      </a:r>
                    </a:p>
                  </a:txBody>
                  <a:tcPr anchor="ctr" marL="73152" marR="73152" marT="36576" marB="36576">
                    <a:solidFill>
                      <a:srgbClr val="EEF4FF"/>
                    </a:solidFill>
                  </a:tcPr>
                </a:tc>
                <a:tc>
                  <a:txBody>
                    <a:bodyPr/>
                    <a:lstStyle/>
                    <a:p>
                      <a:pPr>
                        <a:defRPr sz="950" b="1">
                          <a:solidFill>
                            <a:srgbClr val="0F1F38"/>
                          </a:solidFill>
                          <a:latin typeface="Calibri"/>
                        </a:defRPr>
                      </a:pPr>
                      <a:r>
                        <a:t>1.58-bit {-Δ, 0, +Δ}</a:t>
                      </a:r>
                    </a:p>
                  </a:txBody>
                  <a:tcPr anchor="ctr" marL="73152" marR="73152" marT="36576" marB="36576">
                    <a:solidFill>
                      <a:srgbClr val="EEF4FF"/>
                    </a:solidFill>
                  </a:tcPr>
                </a:tc>
                <a:tc>
                  <a:txBody>
                    <a:bodyPr/>
                    <a:lstStyle/>
                    <a:p>
                      <a:pPr>
                        <a:defRPr sz="950" b="1">
                          <a:solidFill>
                            <a:srgbClr val="0F1F38"/>
                          </a:solidFill>
                          <a:latin typeface="Calibri"/>
                        </a:defRPr>
                      </a:pPr>
                      <a:r>
                        <a:t>Integer Adder Trees</a:t>
                      </a:r>
                    </a:p>
                  </a:txBody>
                  <a:tcPr anchor="ctr" marL="73152" marR="73152" marT="36576" marB="36576">
                    <a:solidFill>
                      <a:srgbClr val="EEF4FF"/>
                    </a:solidFill>
                  </a:tcPr>
                </a:tc>
                <a:tc>
                  <a:txBody>
                    <a:bodyPr/>
                    <a:lstStyle/>
                    <a:p>
                      <a:pPr>
                        <a:defRPr sz="950" b="1">
                          <a:solidFill>
                            <a:srgbClr val="0F1F38"/>
                          </a:solidFill>
                          <a:latin typeface="Calibri"/>
                        </a:defRPr>
                      </a:pPr>
                      <a:r>
                        <a:t>0.02 pJ (-99.5%)</a:t>
                      </a:r>
                    </a:p>
                  </a:txBody>
                  <a:tcPr anchor="ctr" marL="73152" marR="73152" marT="36576" marB="36576">
                    <a:solidFill>
                      <a:srgbClr val="EEF4FF"/>
                    </a:solidFill>
                  </a:tcPr>
                </a:tc>
                <a:tc>
                  <a:txBody>
                    <a:bodyPr/>
                    <a:lstStyle/>
                    <a:p>
                      <a:pPr>
                        <a:defRPr sz="950" b="1">
                          <a:solidFill>
                            <a:srgbClr val="0E9355"/>
                          </a:solidFill>
                          <a:latin typeface="Calibri"/>
                        </a:defRPr>
                      </a:pPr>
                      <a:r>
                        <a:t>Zero multiplies; 18.55 MB core fits in SRAM ⭐</a:t>
                      </a:r>
                    </a:p>
                  </a:txBody>
                  <a:tcPr anchor="ctr" marL="73152" marR="73152" marT="36576" marB="36576">
                    <a:solidFill>
                      <a:srgbClr val="ECFDF3"/>
                    </a:solidFill>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0F1F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82880"/>
            <a:ext cx="11094415" cy="219456"/>
          </a:xfrm>
          <a:prstGeom prst="rect">
            <a:avLst/>
          </a:prstGeom>
          <a:noFill/>
        </p:spPr>
        <p:txBody>
          <a:bodyPr wrap="none" lIns="0" tIns="0" rIns="0" bIns="0">
            <a:spAutoFit/>
          </a:bodyPr>
          <a:lstStyle/>
          <a:p>
            <a:pPr>
              <a:defRPr sz="900" b="1">
                <a:solidFill>
                  <a:srgbClr val="1E63EC"/>
                </a:solidFill>
                <a:latin typeface="Arial"/>
              </a:defRPr>
            </a:pPr>
            <a:r>
              <a:t>04  ·  PROPOSED METHODOLOGY / PROPOSED WORK</a:t>
            </a:r>
          </a:p>
        </p:txBody>
      </p:sp>
      <p:sp>
        <p:nvSpPr>
          <p:cNvPr id="5" name="TextBox 4"/>
          <p:cNvSpPr txBox="1"/>
          <p:nvPr/>
        </p:nvSpPr>
        <p:spPr>
          <a:xfrm>
            <a:off x="548640" y="384048"/>
            <a:ext cx="11094415" cy="420624"/>
          </a:xfrm>
          <a:prstGeom prst="rect">
            <a:avLst/>
          </a:prstGeom>
          <a:noFill/>
        </p:spPr>
        <p:txBody>
          <a:bodyPr wrap="none" lIns="0" tIns="0" rIns="0" bIns="0">
            <a:spAutoFit/>
          </a:bodyPr>
          <a:lstStyle/>
          <a:p>
            <a:pPr>
              <a:defRPr sz="2000" b="1">
                <a:solidFill>
                  <a:srgbClr val="0F1F38"/>
                </a:solidFill>
                <a:latin typeface="Arial"/>
              </a:defRPr>
            </a:pPr>
            <a:r>
              <a:t>Quantization-Aware Ternary Distillation (QAT-TD) Framework</a:t>
            </a:r>
          </a:p>
        </p:txBody>
      </p:sp>
      <p:sp>
        <p:nvSpPr>
          <p:cNvPr id="6" name="Rectangle 5"/>
          <p:cNvSpPr/>
          <p:nvPr/>
        </p:nvSpPr>
        <p:spPr>
          <a:xfrm>
            <a:off x="548640" y="841248"/>
            <a:ext cx="11094415" cy="384048"/>
          </a:xfrm>
          <a:prstGeom prst="rect">
            <a:avLst/>
          </a:prstGeom>
          <a:solidFill>
            <a:srgbClr val="EEF4FF"/>
          </a:solidFill>
          <a:ln w="12700">
            <a:solidFill>
              <a:srgbClr val="B9D3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841248"/>
            <a:ext cx="63500" cy="384048"/>
          </a:xfrm>
          <a:prstGeom prst="rect">
            <a:avLst/>
          </a:prstGeom>
          <a:solidFill>
            <a:srgbClr val="1E63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896112"/>
            <a:ext cx="10865815" cy="274320"/>
          </a:xfrm>
          <a:prstGeom prst="rect">
            <a:avLst/>
          </a:prstGeom>
          <a:noFill/>
        </p:spPr>
        <p:txBody>
          <a:bodyPr wrap="square" lIns="0" tIns="0" rIns="0" bIns="0">
            <a:spAutoFit/>
          </a:bodyPr>
          <a:lstStyle/>
          <a:p>
            <a:r>
              <a:rPr sz="1000" b="1">
                <a:solidFill>
                  <a:srgbClr val="1E63EC"/>
                </a:solidFill>
                <a:latin typeface="Arial"/>
              </a:rPr>
              <a:t>KEY TAKEAWAY:  </a:t>
            </a:r>
            <a:r>
              <a:rPr sz="1000" b="1">
                <a:solidFill>
                  <a:srgbClr val="0F1F38"/>
                </a:solidFill>
                <a:latin typeface="Calibri"/>
              </a:rPr>
              <a:t>Combining Straight-Through Estimators, BitNet vocabulary protection, and temperature-scaled Knowledge Distillation.</a:t>
            </a:r>
          </a:p>
        </p:txBody>
      </p:sp>
      <p:sp>
        <p:nvSpPr>
          <p:cNvPr id="9" name="Rectangle 8"/>
          <p:cNvSpPr/>
          <p:nvPr/>
        </p:nvSpPr>
        <p:spPr>
          <a:xfrm>
            <a:off x="548640" y="6446520"/>
            <a:ext cx="11094415" cy="12700"/>
          </a:xfrm>
          <a:prstGeom prst="rect">
            <a:avLst/>
          </a:prstGeom>
          <a:solidFill>
            <a:srgbClr val="DCE3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6501384"/>
            <a:ext cx="8686800" cy="256032"/>
          </a:xfrm>
          <a:prstGeom prst="rect">
            <a:avLst/>
          </a:prstGeom>
          <a:noFill/>
        </p:spPr>
        <p:txBody>
          <a:bodyPr wrap="none" lIns="0" tIns="0" rIns="0" bIns="0">
            <a:spAutoFit/>
          </a:bodyPr>
          <a:lstStyle/>
          <a:p>
            <a:pPr>
              <a:defRPr sz="800" b="1">
                <a:solidFill>
                  <a:srgbClr val="475569"/>
                </a:solidFill>
                <a:latin typeface="Arial"/>
              </a:defRPr>
            </a:pPr>
            <a:r>
              <a:t>MAYANK RANA (24U021026)  ·  GUIDE: DR. YATENDRA SAHU  ·  IIIT BHOPAL  ·  GITHUB: https://github.com/Mayank-Rana1/llm_quantization</a:t>
            </a:r>
          </a:p>
        </p:txBody>
      </p:sp>
      <p:sp>
        <p:nvSpPr>
          <p:cNvPr id="11" name="TextBox 10"/>
          <p:cNvSpPr txBox="1"/>
          <p:nvPr/>
        </p:nvSpPr>
        <p:spPr>
          <a:xfrm>
            <a:off x="9357055" y="6501384"/>
            <a:ext cx="2286000" cy="256032"/>
          </a:xfrm>
          <a:prstGeom prst="rect">
            <a:avLst/>
          </a:prstGeom>
          <a:noFill/>
        </p:spPr>
        <p:txBody>
          <a:bodyPr wrap="none" lIns="0" tIns="0" rIns="0" bIns="0">
            <a:spAutoFit/>
          </a:bodyPr>
          <a:lstStyle/>
          <a:p>
            <a:pPr algn="r">
              <a:defRPr sz="850" b="1">
                <a:solidFill>
                  <a:srgbClr val="0F1F38"/>
                </a:solidFill>
                <a:latin typeface="Arial"/>
              </a:defRPr>
            </a:pPr>
            <a:r>
              <a:t>SLIDE 04 OF 09</a:t>
            </a:r>
          </a:p>
        </p:txBody>
      </p:sp>
      <p:sp>
        <p:nvSpPr>
          <p:cNvPr id="12" name="Rectangle 11"/>
          <p:cNvSpPr/>
          <p:nvPr/>
        </p:nvSpPr>
        <p:spPr>
          <a:xfrm>
            <a:off x="548640" y="1353312"/>
            <a:ext cx="3575304" cy="4983480"/>
          </a:xfrm>
          <a:prstGeom prst="rect">
            <a:avLst/>
          </a:prstGeom>
          <a:solidFill>
            <a:srgbClr val="FFFFFF"/>
          </a:solidFill>
          <a:ln w="15240">
            <a:solidFill>
              <a:srgbClr val="DCE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353312"/>
            <a:ext cx="3575304" cy="329184"/>
          </a:xfrm>
          <a:prstGeom prst="rect">
            <a:avLst/>
          </a:prstGeom>
          <a:solidFill>
            <a:srgbClr val="0F1F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4944" y="1417320"/>
            <a:ext cx="3282696" cy="219456"/>
          </a:xfrm>
          <a:prstGeom prst="rect">
            <a:avLst/>
          </a:prstGeom>
          <a:noFill/>
        </p:spPr>
        <p:txBody>
          <a:bodyPr wrap="none" lIns="0" tIns="0" rIns="0" bIns="0">
            <a:spAutoFit/>
          </a:bodyPr>
          <a:lstStyle/>
          <a:p>
            <a:pPr>
              <a:defRPr sz="900" b="1">
                <a:solidFill>
                  <a:srgbClr val="FFFFFF"/>
                </a:solidFill>
                <a:latin typeface="Arial"/>
              </a:defRPr>
            </a:pPr>
            <a:r>
              <a:t>1. 1.58-BIT TERNARY LINEAR CORE</a:t>
            </a:r>
          </a:p>
        </p:txBody>
      </p:sp>
      <p:sp>
        <p:nvSpPr>
          <p:cNvPr id="15" name="TextBox 14"/>
          <p:cNvSpPr txBox="1"/>
          <p:nvPr/>
        </p:nvSpPr>
        <p:spPr>
          <a:xfrm>
            <a:off x="713232" y="1773936"/>
            <a:ext cx="3246120" cy="4014216"/>
          </a:xfrm>
          <a:prstGeom prst="rect">
            <a:avLst/>
          </a:prstGeom>
          <a:noFill/>
        </p:spPr>
        <p:txBody>
          <a:bodyPr wrap="square" lIns="0" tIns="0" rIns="0" bIns="0">
            <a:spAutoFit/>
          </a:bodyPr>
          <a:lstStyle/>
          <a:p>
            <a:pPr>
              <a:spcAft>
                <a:spcPts val="800"/>
              </a:spcAft>
            </a:pPr>
            <a:r>
              <a:rPr sz="1100" b="1">
                <a:solidFill>
                  <a:srgbClr val="1E63EC"/>
                </a:solidFill>
                <a:latin typeface="Arial"/>
              </a:rPr>
              <a:t>▪ </a:t>
            </a:r>
            <a:r>
              <a:rPr sz="1100" b="1">
                <a:solidFill>
                  <a:srgbClr val="0F1F38"/>
                </a:solidFill>
                <a:latin typeface="Arial"/>
              </a:rPr>
              <a:t>Ternary Weight Lattice:</a:t>
            </a:r>
            <a:r>
              <a:rPr sz="1100" b="0">
                <a:solidFill>
                  <a:srgbClr val="0F172A"/>
                </a:solidFill>
                <a:latin typeface="Calibri"/>
              </a:rPr>
              <a:t> Every linear weight is snapped to {-Δ, 0, +Δ} on forward pass.</a:t>
            </a:r>
          </a:p>
          <a:p>
            <a:pPr>
              <a:spcAft>
                <a:spcPts val="800"/>
              </a:spcAft>
            </a:pPr>
            <a:r>
              <a:rPr sz="1100" b="1">
                <a:solidFill>
                  <a:srgbClr val="1E63EC"/>
                </a:solidFill>
                <a:latin typeface="Arial"/>
              </a:rPr>
              <a:t>▪ </a:t>
            </a:r>
            <a:r>
              <a:rPr sz="1100" b="1">
                <a:solidFill>
                  <a:srgbClr val="0F1F38"/>
                </a:solidFill>
                <a:latin typeface="Arial"/>
              </a:rPr>
              <a:t>Dynamic Absmean Scale (Δ):</a:t>
            </a:r>
            <a:r>
              <a:rPr sz="1100" b="0">
                <a:solidFill>
                  <a:srgbClr val="0F172A"/>
                </a:solidFill>
                <a:latin typeface="Calibri"/>
              </a:rPr>
              <a:t>
  Δ = (1 / N) Σ |W_ij|  (clamped to min 10⁻⁸)
Preserves each layer's natural activation spread.</a:t>
            </a:r>
          </a:p>
          <a:p>
            <a:pPr>
              <a:spcAft>
                <a:spcPts val="800"/>
              </a:spcAft>
            </a:pPr>
            <a:r>
              <a:rPr sz="1100" b="1">
                <a:solidFill>
                  <a:srgbClr val="1E63EC"/>
                </a:solidFill>
                <a:latin typeface="Arial"/>
              </a:rPr>
              <a:t>▪ </a:t>
            </a:r>
            <a:r>
              <a:rPr sz="1100" b="1">
                <a:solidFill>
                  <a:srgbClr val="0F1F38"/>
                </a:solidFill>
                <a:latin typeface="Arial"/>
              </a:rPr>
              <a:t>Symmetric Threshold (τ = 0.7Δ):</a:t>
            </a:r>
            <a:r>
              <a:rPr sz="1100" b="0">
                <a:solidFill>
                  <a:srgbClr val="0F172A"/>
                </a:solidFill>
                <a:latin typeface="Calibri"/>
              </a:rPr>
              <a:t>
  |W| ≤ τ maps to 0 (pruning ~30% weights).
  |W| &gt; τ snaps to +Δ or −Δ.</a:t>
            </a:r>
          </a:p>
          <a:p>
            <a:pPr>
              <a:spcAft>
                <a:spcPts val="800"/>
              </a:spcAft>
            </a:pPr>
            <a:r>
              <a:rPr sz="1100" b="1">
                <a:solidFill>
                  <a:srgbClr val="1E63EC"/>
                </a:solidFill>
                <a:latin typeface="Arial"/>
              </a:rPr>
              <a:t>▪ </a:t>
            </a:r>
            <a:r>
              <a:rPr sz="1100" b="1">
                <a:solidFill>
                  <a:srgbClr val="0F1F38"/>
                </a:solidFill>
                <a:latin typeface="Arial"/>
              </a:rPr>
              <a:t>Multiplication-Free Matrix Math:</a:t>
            </a:r>
            <a:r>
              <a:rPr sz="1100" b="0">
                <a:solidFill>
                  <a:srgbClr val="0F172A"/>
                </a:solidFill>
                <a:latin typeface="Calibri"/>
              </a:rPr>
              <a:t> Linear projections compute via integer additions and subtractions.</a:t>
            </a:r>
          </a:p>
        </p:txBody>
      </p:sp>
      <p:sp>
        <p:nvSpPr>
          <p:cNvPr id="16" name="Rectangle 15"/>
          <p:cNvSpPr/>
          <p:nvPr/>
        </p:nvSpPr>
        <p:spPr>
          <a:xfrm>
            <a:off x="694944" y="5916168"/>
            <a:ext cx="3282696" cy="329184"/>
          </a:xfrm>
          <a:prstGeom prst="rect">
            <a:avLst/>
          </a:prstGeom>
          <a:solidFill>
            <a:srgbClr val="F1F5F9"/>
          </a:solidFill>
          <a:ln w="12700">
            <a:solidFill>
              <a:srgbClr val="DCE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94944" y="5916168"/>
            <a:ext cx="50800" cy="329184"/>
          </a:xfrm>
          <a:prstGeom prst="rect">
            <a:avLst/>
          </a:prstGeom>
          <a:solidFill>
            <a:srgbClr val="1E63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8096" y="5971032"/>
            <a:ext cx="3118104" cy="219456"/>
          </a:xfrm>
          <a:prstGeom prst="rect">
            <a:avLst/>
          </a:prstGeom>
          <a:noFill/>
        </p:spPr>
        <p:txBody>
          <a:bodyPr wrap="none" lIns="0" tIns="0" rIns="0" bIns="0">
            <a:spAutoFit/>
          </a:bodyPr>
          <a:lstStyle/>
          <a:p>
            <a:pPr>
              <a:defRPr sz="950" b="1">
                <a:solidFill>
                  <a:srgbClr val="0F1F38"/>
                </a:solidFill>
                <a:latin typeface="Arial"/>
              </a:defRPr>
            </a:pPr>
            <a:r>
              <a:t>Core Projections: 210 Layers Snapped to {-Δ, 0, +Δ}</a:t>
            </a:r>
          </a:p>
        </p:txBody>
      </p:sp>
      <p:sp>
        <p:nvSpPr>
          <p:cNvPr id="19" name="Rectangle 18"/>
          <p:cNvSpPr/>
          <p:nvPr/>
        </p:nvSpPr>
        <p:spPr>
          <a:xfrm>
            <a:off x="4306824" y="1353312"/>
            <a:ext cx="3575304" cy="4983480"/>
          </a:xfrm>
          <a:prstGeom prst="rect">
            <a:avLst/>
          </a:prstGeom>
          <a:solidFill>
            <a:srgbClr val="FFFFFF"/>
          </a:solidFill>
          <a:ln w="15240">
            <a:solidFill>
              <a:srgbClr val="DCE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306824" y="1353312"/>
            <a:ext cx="3575304" cy="329184"/>
          </a:xfrm>
          <a:prstGeom prst="rect">
            <a:avLst/>
          </a:prstGeom>
          <a:solidFill>
            <a:srgbClr val="0F1F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453128" y="1417320"/>
            <a:ext cx="3282696" cy="219456"/>
          </a:xfrm>
          <a:prstGeom prst="rect">
            <a:avLst/>
          </a:prstGeom>
          <a:noFill/>
        </p:spPr>
        <p:txBody>
          <a:bodyPr wrap="none" lIns="0" tIns="0" rIns="0" bIns="0">
            <a:spAutoFit/>
          </a:bodyPr>
          <a:lstStyle/>
          <a:p>
            <a:pPr>
              <a:defRPr sz="900" b="1">
                <a:solidFill>
                  <a:srgbClr val="FFFFFF"/>
                </a:solidFill>
                <a:latin typeface="Arial"/>
              </a:defRPr>
            </a:pPr>
            <a:r>
              <a:t>2. BITNET VOCABULARY PROTECTION</a:t>
            </a:r>
          </a:p>
        </p:txBody>
      </p:sp>
      <p:sp>
        <p:nvSpPr>
          <p:cNvPr id="22" name="TextBox 21"/>
          <p:cNvSpPr txBox="1"/>
          <p:nvPr/>
        </p:nvSpPr>
        <p:spPr>
          <a:xfrm>
            <a:off x="4471416" y="1773936"/>
            <a:ext cx="3246120" cy="4014216"/>
          </a:xfrm>
          <a:prstGeom prst="rect">
            <a:avLst/>
          </a:prstGeom>
          <a:noFill/>
        </p:spPr>
        <p:txBody>
          <a:bodyPr wrap="square" lIns="0" tIns="0" rIns="0" bIns="0">
            <a:spAutoFit/>
          </a:bodyPr>
          <a:lstStyle/>
          <a:p>
            <a:pPr>
              <a:spcAft>
                <a:spcPts val="800"/>
              </a:spcAft>
            </a:pPr>
            <a:r>
              <a:rPr sz="1100" b="1">
                <a:solidFill>
                  <a:srgbClr val="1E63EC"/>
                </a:solidFill>
                <a:latin typeface="Arial"/>
              </a:rPr>
              <a:t>▪ </a:t>
            </a:r>
            <a:r>
              <a:rPr sz="1100" b="1">
                <a:solidFill>
                  <a:srgbClr val="0F1F38"/>
                </a:solidFill>
                <a:latin typeface="Arial"/>
              </a:rPr>
              <a:t>Run #1 Autopsy:</a:t>
            </a:r>
            <a:r>
              <a:rPr sz="1100" b="0">
                <a:solidFill>
                  <a:srgbClr val="0F172A"/>
                </a:solidFill>
                <a:latin typeface="Calibri"/>
              </a:rPr>
              <a:t> Quantizing word embeddings destroyed continuous logit representations, causing repetitive gibberish.</a:t>
            </a:r>
          </a:p>
          <a:p>
            <a:pPr>
              <a:spcAft>
                <a:spcPts val="800"/>
              </a:spcAft>
            </a:pPr>
            <a:r>
              <a:rPr sz="1100" b="1">
                <a:solidFill>
                  <a:srgbClr val="1E63EC"/>
                </a:solidFill>
                <a:latin typeface="Arial"/>
              </a:rPr>
              <a:t>▪ </a:t>
            </a:r>
            <a:r>
              <a:rPr sz="1100" b="1">
                <a:solidFill>
                  <a:srgbClr val="0F1F38"/>
                </a:solidFill>
                <a:latin typeface="Arial"/>
              </a:rPr>
              <a:t>embed_tokens in FP32:</a:t>
            </a:r>
            <a:r>
              <a:rPr sz="1100" b="0">
                <a:solidFill>
                  <a:srgbClr val="0F172A"/>
                </a:solidFill>
                <a:latin typeface="Calibri"/>
              </a:rPr>
              <a:t> 28.3M params (49,152 × 576) preserved in full precision.</a:t>
            </a:r>
          </a:p>
          <a:p>
            <a:pPr>
              <a:spcAft>
                <a:spcPts val="800"/>
              </a:spcAft>
            </a:pPr>
            <a:r>
              <a:rPr sz="1100" b="1">
                <a:solidFill>
                  <a:srgbClr val="1E63EC"/>
                </a:solidFill>
                <a:latin typeface="Arial"/>
              </a:rPr>
              <a:t>▪ </a:t>
            </a:r>
            <a:r>
              <a:rPr sz="1100" b="1">
                <a:solidFill>
                  <a:srgbClr val="0F1F38"/>
                </a:solidFill>
                <a:latin typeface="Arial"/>
              </a:rPr>
              <a:t>lm_head in FP32:</a:t>
            </a:r>
            <a:r>
              <a:rPr sz="1100" b="0">
                <a:solidFill>
                  <a:srgbClr val="0F172A"/>
                </a:solidFill>
                <a:latin typeface="Calibri"/>
              </a:rPr>
              <a:t> 28.3M params kept continuous before Softmax calculation.</a:t>
            </a:r>
          </a:p>
          <a:p>
            <a:pPr>
              <a:spcAft>
                <a:spcPts val="800"/>
              </a:spcAft>
            </a:pPr>
            <a:r>
              <a:rPr sz="1100" b="1">
                <a:solidFill>
                  <a:srgbClr val="1E63EC"/>
                </a:solidFill>
                <a:latin typeface="Arial"/>
              </a:rPr>
              <a:t>▪ </a:t>
            </a:r>
            <a:r>
              <a:rPr sz="1100" b="1">
                <a:solidFill>
                  <a:srgbClr val="0F1F38"/>
                </a:solidFill>
                <a:latin typeface="Arial"/>
              </a:rPr>
              <a:t>RMSNorm &amp; Biases in FP32:</a:t>
            </a:r>
            <a:r>
              <a:rPr sz="1100" b="0">
                <a:solidFill>
                  <a:srgbClr val="0F172A"/>
                </a:solidFill>
                <a:latin typeface="Calibri"/>
              </a:rPr>
              <a:t> &lt;0.1% params preserved to prevent DC-offset voltage drift.</a:t>
            </a:r>
          </a:p>
          <a:p>
            <a:pPr>
              <a:spcAft>
                <a:spcPts val="800"/>
              </a:spcAft>
            </a:pPr>
            <a:r>
              <a:rPr sz="1100" b="1">
                <a:solidFill>
                  <a:srgbClr val="1E63EC"/>
                </a:solidFill>
                <a:latin typeface="Arial"/>
              </a:rPr>
              <a:t>▪ </a:t>
            </a:r>
            <a:r>
              <a:rPr sz="1100" b="1">
                <a:solidFill>
                  <a:srgbClr val="0F1F38"/>
                </a:solidFill>
                <a:latin typeface="Arial"/>
              </a:rPr>
              <a:t>Result:</a:t>
            </a:r>
            <a:r>
              <a:rPr sz="1100" b="0">
                <a:solidFill>
                  <a:srgbClr val="0F172A"/>
                </a:solidFill>
                <a:latin typeface="Calibri"/>
              </a:rPr>
              <a:t> Guarantees smooth continuous output logits, completely eliminating mode collapse!</a:t>
            </a:r>
          </a:p>
        </p:txBody>
      </p:sp>
      <p:sp>
        <p:nvSpPr>
          <p:cNvPr id="23" name="Rectangle 22"/>
          <p:cNvSpPr/>
          <p:nvPr/>
        </p:nvSpPr>
        <p:spPr>
          <a:xfrm>
            <a:off x="4453128" y="5916168"/>
            <a:ext cx="3282696" cy="329184"/>
          </a:xfrm>
          <a:prstGeom prst="rect">
            <a:avLst/>
          </a:prstGeom>
          <a:solidFill>
            <a:srgbClr val="F1F5F9"/>
          </a:solidFill>
          <a:ln w="12700">
            <a:solidFill>
              <a:srgbClr val="DCE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453128" y="5916168"/>
            <a:ext cx="50800" cy="329184"/>
          </a:xfrm>
          <a:prstGeom prst="rect">
            <a:avLst/>
          </a:prstGeom>
          <a:solidFill>
            <a:srgbClr val="1E63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526280" y="5971032"/>
            <a:ext cx="3118104" cy="219456"/>
          </a:xfrm>
          <a:prstGeom prst="rect">
            <a:avLst/>
          </a:prstGeom>
          <a:noFill/>
        </p:spPr>
        <p:txBody>
          <a:bodyPr wrap="none" lIns="0" tIns="0" rIns="0" bIns="0">
            <a:spAutoFit/>
          </a:bodyPr>
          <a:lstStyle/>
          <a:p>
            <a:pPr>
              <a:defRPr sz="950" b="1">
                <a:solidFill>
                  <a:srgbClr val="0F1F38"/>
                </a:solidFill>
                <a:latin typeface="Arial"/>
              </a:defRPr>
            </a:pPr>
            <a:r>
              <a:t>Vocabulary Interfaces in FP32 = Zero Mode Collapse</a:t>
            </a:r>
          </a:p>
        </p:txBody>
      </p:sp>
      <p:sp>
        <p:nvSpPr>
          <p:cNvPr id="26" name="Rectangle 25"/>
          <p:cNvSpPr/>
          <p:nvPr/>
        </p:nvSpPr>
        <p:spPr>
          <a:xfrm>
            <a:off x="8065008" y="1353312"/>
            <a:ext cx="3575304" cy="4983480"/>
          </a:xfrm>
          <a:prstGeom prst="rect">
            <a:avLst/>
          </a:prstGeom>
          <a:solidFill>
            <a:srgbClr val="FFFFFF"/>
          </a:solidFill>
          <a:ln w="15240">
            <a:solidFill>
              <a:srgbClr val="DCE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065008" y="1353312"/>
            <a:ext cx="3575304" cy="329184"/>
          </a:xfrm>
          <a:prstGeom prst="rect">
            <a:avLst/>
          </a:prstGeom>
          <a:solidFill>
            <a:srgbClr val="0F1F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11312" y="1417320"/>
            <a:ext cx="3282696" cy="219456"/>
          </a:xfrm>
          <a:prstGeom prst="rect">
            <a:avLst/>
          </a:prstGeom>
          <a:noFill/>
        </p:spPr>
        <p:txBody>
          <a:bodyPr wrap="none" lIns="0" tIns="0" rIns="0" bIns="0">
            <a:spAutoFit/>
          </a:bodyPr>
          <a:lstStyle/>
          <a:p>
            <a:pPr>
              <a:defRPr sz="900" b="1">
                <a:solidFill>
                  <a:srgbClr val="FFFFFF"/>
                </a:solidFill>
                <a:latin typeface="Arial"/>
              </a:defRPr>
            </a:pPr>
            <a:r>
              <a:t>3. MULTI-TASK TEACHER KD LOSS</a:t>
            </a:r>
          </a:p>
        </p:txBody>
      </p:sp>
      <p:sp>
        <p:nvSpPr>
          <p:cNvPr id="29" name="TextBox 28"/>
          <p:cNvSpPr txBox="1"/>
          <p:nvPr/>
        </p:nvSpPr>
        <p:spPr>
          <a:xfrm>
            <a:off x="8229600" y="1773936"/>
            <a:ext cx="3246120" cy="4014216"/>
          </a:xfrm>
          <a:prstGeom prst="rect">
            <a:avLst/>
          </a:prstGeom>
          <a:noFill/>
        </p:spPr>
        <p:txBody>
          <a:bodyPr wrap="square" lIns="0" tIns="0" rIns="0" bIns="0">
            <a:spAutoFit/>
          </a:bodyPr>
          <a:lstStyle/>
          <a:p>
            <a:pPr>
              <a:spcAft>
                <a:spcPts val="800"/>
              </a:spcAft>
            </a:pPr>
            <a:r>
              <a:rPr sz="1100" b="1">
                <a:solidFill>
                  <a:srgbClr val="1E63EC"/>
                </a:solidFill>
                <a:latin typeface="Arial"/>
              </a:rPr>
              <a:t>▪ </a:t>
            </a:r>
            <a:r>
              <a:rPr sz="1100" b="1">
                <a:solidFill>
                  <a:srgbClr val="0F1F38"/>
                </a:solidFill>
                <a:latin typeface="Arial"/>
              </a:rPr>
              <a:t>Frozen Teacher:</a:t>
            </a:r>
            <a:r>
              <a:rPr sz="1100" b="0">
                <a:solidFill>
                  <a:srgbClr val="0F172A"/>
                </a:solidFill>
                <a:latin typeface="Calibri"/>
              </a:rPr>
              <a:t> SmolLM-360M-Instruct in FP16 (rich semantic understanding).</a:t>
            </a:r>
          </a:p>
          <a:p>
            <a:pPr>
              <a:spcAft>
                <a:spcPts val="800"/>
              </a:spcAft>
            </a:pPr>
            <a:r>
              <a:rPr sz="1100" b="1">
                <a:solidFill>
                  <a:srgbClr val="1E63EC"/>
                </a:solidFill>
                <a:latin typeface="Arial"/>
              </a:rPr>
              <a:t>▪ </a:t>
            </a:r>
            <a:r>
              <a:rPr sz="1100" b="1">
                <a:solidFill>
                  <a:srgbClr val="0F1F38"/>
                </a:solidFill>
                <a:latin typeface="Arial"/>
              </a:rPr>
              <a:t>Trainable Student:</a:t>
            </a:r>
            <a:r>
              <a:rPr sz="1100" b="0">
                <a:solidFill>
                  <a:srgbClr val="0F172A"/>
                </a:solidFill>
                <a:latin typeface="Calibri"/>
              </a:rPr>
              <a:t> SmolLM-135M in 1.58-bit ternary precision.</a:t>
            </a:r>
          </a:p>
          <a:p>
            <a:pPr>
              <a:spcAft>
                <a:spcPts val="800"/>
              </a:spcAft>
            </a:pPr>
            <a:r>
              <a:rPr sz="1100" b="1">
                <a:solidFill>
                  <a:srgbClr val="1E63EC"/>
                </a:solidFill>
                <a:latin typeface="Arial"/>
              </a:rPr>
              <a:t>▪ </a:t>
            </a:r>
            <a:r>
              <a:rPr sz="1100" b="1">
                <a:solidFill>
                  <a:srgbClr val="0F1F38"/>
                </a:solidFill>
                <a:latin typeface="Arial"/>
              </a:rPr>
              <a:t>Balanced Hybrid Loss:</a:t>
            </a:r>
            <a:r>
              <a:rPr sz="1100" b="0">
                <a:solidFill>
                  <a:srgbClr val="0F172A"/>
                </a:solidFill>
                <a:latin typeface="Calibri"/>
              </a:rPr>
              <a:t>
  L_total = 0.5 · L_CE + 0.5 · T² · L_KD
Balances hard next-token ground truth with soft teacher distributions at T = 2.0.</a:t>
            </a:r>
          </a:p>
          <a:p>
            <a:pPr>
              <a:spcAft>
                <a:spcPts val="800"/>
              </a:spcAft>
            </a:pPr>
            <a:r>
              <a:rPr sz="1100" b="1">
                <a:solidFill>
                  <a:srgbClr val="1E63EC"/>
                </a:solidFill>
                <a:latin typeface="Arial"/>
              </a:rPr>
              <a:t>▪ </a:t>
            </a:r>
            <a:r>
              <a:rPr sz="1100" b="1">
                <a:solidFill>
                  <a:srgbClr val="0F1F38"/>
                </a:solidFill>
                <a:latin typeface="Arial"/>
              </a:rPr>
              <a:t>Active Token Causal Masking:</a:t>
            </a:r>
            <a:r>
              <a:rPr sz="1100" b="0">
                <a:solidFill>
                  <a:srgbClr val="0F172A"/>
                </a:solidFill>
                <a:latin typeface="Calibri"/>
              </a:rPr>
              <a:t> Padding tokens are strictly masked out of both losses so gradients only reflect real language.</a:t>
            </a:r>
          </a:p>
        </p:txBody>
      </p:sp>
      <p:sp>
        <p:nvSpPr>
          <p:cNvPr id="30" name="Rectangle 29"/>
          <p:cNvSpPr/>
          <p:nvPr/>
        </p:nvSpPr>
        <p:spPr>
          <a:xfrm>
            <a:off x="8211312" y="5916168"/>
            <a:ext cx="3282696" cy="329184"/>
          </a:xfrm>
          <a:prstGeom prst="rect">
            <a:avLst/>
          </a:prstGeom>
          <a:solidFill>
            <a:srgbClr val="F1F5F9"/>
          </a:solidFill>
          <a:ln w="12700">
            <a:solidFill>
              <a:srgbClr val="DCE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211312" y="5916168"/>
            <a:ext cx="50800" cy="329184"/>
          </a:xfrm>
          <a:prstGeom prst="rect">
            <a:avLst/>
          </a:prstGeom>
          <a:solidFill>
            <a:srgbClr val="1E63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84464" y="5971032"/>
            <a:ext cx="3118104" cy="219456"/>
          </a:xfrm>
          <a:prstGeom prst="rect">
            <a:avLst/>
          </a:prstGeom>
          <a:noFill/>
        </p:spPr>
        <p:txBody>
          <a:bodyPr wrap="none" lIns="0" tIns="0" rIns="0" bIns="0">
            <a:spAutoFit/>
          </a:bodyPr>
          <a:lstStyle/>
          <a:p>
            <a:pPr>
              <a:defRPr sz="950" b="1">
                <a:solidFill>
                  <a:srgbClr val="0F1F38"/>
                </a:solidFill>
                <a:latin typeface="Arial"/>
              </a:defRPr>
            </a:pPr>
            <a:r>
              <a:t>L_total = 0.5 · L_CE + 0.5 · T² · L_KD  (Temperature T = 2.0)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0F1F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82880"/>
            <a:ext cx="11094415" cy="219456"/>
          </a:xfrm>
          <a:prstGeom prst="rect">
            <a:avLst/>
          </a:prstGeom>
          <a:noFill/>
        </p:spPr>
        <p:txBody>
          <a:bodyPr wrap="none" lIns="0" tIns="0" rIns="0" bIns="0">
            <a:spAutoFit/>
          </a:bodyPr>
          <a:lstStyle/>
          <a:p>
            <a:pPr>
              <a:defRPr sz="900" b="1">
                <a:solidFill>
                  <a:srgbClr val="1E63EC"/>
                </a:solidFill>
                <a:latin typeface="Arial"/>
              </a:defRPr>
            </a:pPr>
            <a:r>
              <a:t>05  ·  SYSTEM DIAGRAM / PROPOSED ALGORITHM / FLOWCHART</a:t>
            </a:r>
          </a:p>
        </p:txBody>
      </p:sp>
      <p:sp>
        <p:nvSpPr>
          <p:cNvPr id="5" name="TextBox 4"/>
          <p:cNvSpPr txBox="1"/>
          <p:nvPr/>
        </p:nvSpPr>
        <p:spPr>
          <a:xfrm>
            <a:off x="548640" y="384048"/>
            <a:ext cx="11094415" cy="420624"/>
          </a:xfrm>
          <a:prstGeom prst="rect">
            <a:avLst/>
          </a:prstGeom>
          <a:noFill/>
        </p:spPr>
        <p:txBody>
          <a:bodyPr wrap="none" lIns="0" tIns="0" rIns="0" bIns="0">
            <a:spAutoFit/>
          </a:bodyPr>
          <a:lstStyle/>
          <a:p>
            <a:pPr>
              <a:defRPr sz="2000" b="1">
                <a:solidFill>
                  <a:srgbClr val="0F1F38"/>
                </a:solidFill>
                <a:latin typeface="Arial"/>
              </a:defRPr>
            </a:pPr>
            <a:r>
              <a:t>Dual-Stream System Architecture &amp; STE Autograd Optimization Cycle</a:t>
            </a:r>
          </a:p>
        </p:txBody>
      </p:sp>
      <p:sp>
        <p:nvSpPr>
          <p:cNvPr id="6" name="Rectangle 5"/>
          <p:cNvSpPr/>
          <p:nvPr/>
        </p:nvSpPr>
        <p:spPr>
          <a:xfrm>
            <a:off x="548640" y="841248"/>
            <a:ext cx="11094415" cy="384048"/>
          </a:xfrm>
          <a:prstGeom prst="rect">
            <a:avLst/>
          </a:prstGeom>
          <a:solidFill>
            <a:srgbClr val="EEF4FF"/>
          </a:solidFill>
          <a:ln w="12700">
            <a:solidFill>
              <a:srgbClr val="B9D3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841248"/>
            <a:ext cx="63500" cy="384048"/>
          </a:xfrm>
          <a:prstGeom prst="rect">
            <a:avLst/>
          </a:prstGeom>
          <a:solidFill>
            <a:srgbClr val="1E63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896112"/>
            <a:ext cx="10865815" cy="274320"/>
          </a:xfrm>
          <a:prstGeom prst="rect">
            <a:avLst/>
          </a:prstGeom>
          <a:noFill/>
        </p:spPr>
        <p:txBody>
          <a:bodyPr wrap="square" lIns="0" tIns="0" rIns="0" bIns="0">
            <a:spAutoFit/>
          </a:bodyPr>
          <a:lstStyle/>
          <a:p>
            <a:r>
              <a:rPr sz="1000" b="1">
                <a:solidFill>
                  <a:srgbClr val="1E63EC"/>
                </a:solidFill>
                <a:latin typeface="Arial"/>
              </a:rPr>
              <a:t>KEY TAKEAWAY:  </a:t>
            </a:r>
            <a:r>
              <a:rPr sz="1000" b="1">
                <a:solidFill>
                  <a:srgbClr val="0F1F38"/>
                </a:solidFill>
                <a:latin typeface="Calibri"/>
              </a:rPr>
              <a:t>Dual forward pass provides softened guidance while Straight-Through Estimators update continuous master weights.</a:t>
            </a:r>
          </a:p>
        </p:txBody>
      </p:sp>
      <p:sp>
        <p:nvSpPr>
          <p:cNvPr id="9" name="Rectangle 8"/>
          <p:cNvSpPr/>
          <p:nvPr/>
        </p:nvSpPr>
        <p:spPr>
          <a:xfrm>
            <a:off x="548640" y="6446520"/>
            <a:ext cx="11094415" cy="12700"/>
          </a:xfrm>
          <a:prstGeom prst="rect">
            <a:avLst/>
          </a:prstGeom>
          <a:solidFill>
            <a:srgbClr val="DCE3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6501384"/>
            <a:ext cx="8686800" cy="256032"/>
          </a:xfrm>
          <a:prstGeom prst="rect">
            <a:avLst/>
          </a:prstGeom>
          <a:noFill/>
        </p:spPr>
        <p:txBody>
          <a:bodyPr wrap="none" lIns="0" tIns="0" rIns="0" bIns="0">
            <a:spAutoFit/>
          </a:bodyPr>
          <a:lstStyle/>
          <a:p>
            <a:pPr>
              <a:defRPr sz="800" b="1">
                <a:solidFill>
                  <a:srgbClr val="475569"/>
                </a:solidFill>
                <a:latin typeface="Arial"/>
              </a:defRPr>
            </a:pPr>
            <a:r>
              <a:t>MAYANK RANA (24U021026)  ·  GUIDE: DR. YATENDRA SAHU  ·  IIIT BHOPAL  ·  GITHUB: https://github.com/Mayank-Rana1/llm_quantization</a:t>
            </a:r>
          </a:p>
        </p:txBody>
      </p:sp>
      <p:sp>
        <p:nvSpPr>
          <p:cNvPr id="11" name="TextBox 10"/>
          <p:cNvSpPr txBox="1"/>
          <p:nvPr/>
        </p:nvSpPr>
        <p:spPr>
          <a:xfrm>
            <a:off x="9357055" y="6501384"/>
            <a:ext cx="2286000" cy="256032"/>
          </a:xfrm>
          <a:prstGeom prst="rect">
            <a:avLst/>
          </a:prstGeom>
          <a:noFill/>
        </p:spPr>
        <p:txBody>
          <a:bodyPr wrap="none" lIns="0" tIns="0" rIns="0" bIns="0">
            <a:spAutoFit/>
          </a:bodyPr>
          <a:lstStyle/>
          <a:p>
            <a:pPr algn="r">
              <a:defRPr sz="850" b="1">
                <a:solidFill>
                  <a:srgbClr val="0F1F38"/>
                </a:solidFill>
                <a:latin typeface="Arial"/>
              </a:defRPr>
            </a:pPr>
            <a:r>
              <a:t>SLIDE 05 OF 09</a:t>
            </a:r>
          </a:p>
        </p:txBody>
      </p:sp>
      <p:sp>
        <p:nvSpPr>
          <p:cNvPr id="12" name="Rectangle 11"/>
          <p:cNvSpPr/>
          <p:nvPr/>
        </p:nvSpPr>
        <p:spPr>
          <a:xfrm>
            <a:off x="548640" y="1353312"/>
            <a:ext cx="5440680" cy="3931920"/>
          </a:xfrm>
          <a:prstGeom prst="rect">
            <a:avLst/>
          </a:prstGeom>
          <a:solidFill>
            <a:srgbClr val="FFFFFF"/>
          </a:solidFill>
          <a:ln w="15240">
            <a:solidFill>
              <a:srgbClr val="DCE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353312"/>
            <a:ext cx="5440680" cy="329184"/>
          </a:xfrm>
          <a:prstGeom prst="rect">
            <a:avLst/>
          </a:prstGeom>
          <a:solidFill>
            <a:srgbClr val="0F1F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76656" y="1417320"/>
            <a:ext cx="5184648" cy="219456"/>
          </a:xfrm>
          <a:prstGeom prst="rect">
            <a:avLst/>
          </a:prstGeom>
          <a:noFill/>
        </p:spPr>
        <p:txBody>
          <a:bodyPr wrap="none" lIns="0" tIns="0" rIns="0" bIns="0">
            <a:spAutoFit/>
          </a:bodyPr>
          <a:lstStyle/>
          <a:p>
            <a:pPr>
              <a:defRPr sz="900" b="1">
                <a:solidFill>
                  <a:srgbClr val="FFFFFF"/>
                </a:solidFill>
                <a:latin typeface="Arial"/>
              </a:defRPr>
            </a:pPr>
            <a:r>
              <a:t>SYSTEM DIAGRAM: DUAL-STREAM DISTILLATION PIPELINE   |   SMOLLM-360M (FP16 TEACHER) -&gt; SMOLLM-135M (1.58-BIT STUDENT)</a:t>
            </a:r>
          </a:p>
        </p:txBody>
      </p:sp>
      <p:pic>
        <p:nvPicPr>
          <p:cNvPr id="15" name="Picture 14" descr="fig1_architecture.png"/>
          <p:cNvPicPr>
            <a:picLocks noChangeAspect="1"/>
          </p:cNvPicPr>
          <p:nvPr/>
        </p:nvPicPr>
        <p:blipFill>
          <a:blip r:embed="rId3"/>
          <a:stretch>
            <a:fillRect/>
          </a:stretch>
        </p:blipFill>
        <p:spPr>
          <a:xfrm>
            <a:off x="658368" y="1982762"/>
            <a:ext cx="5221224" cy="3002203"/>
          </a:xfrm>
          <a:prstGeom prst="rect">
            <a:avLst/>
          </a:prstGeom>
          <a:ln w="9525">
            <a:solidFill>
              <a:srgbClr val="DCE3EC"/>
            </a:solidFill>
          </a:ln>
        </p:spPr>
      </p:pic>
      <p:sp>
        <p:nvSpPr>
          <p:cNvPr id="16" name="Rectangle 15"/>
          <p:cNvSpPr/>
          <p:nvPr/>
        </p:nvSpPr>
        <p:spPr>
          <a:xfrm>
            <a:off x="6202375" y="1353312"/>
            <a:ext cx="5440680" cy="3931920"/>
          </a:xfrm>
          <a:prstGeom prst="rect">
            <a:avLst/>
          </a:prstGeom>
          <a:solidFill>
            <a:srgbClr val="FFFFFF"/>
          </a:solidFill>
          <a:ln w="15240">
            <a:solidFill>
              <a:srgbClr val="DCE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02375" y="1353312"/>
            <a:ext cx="5440680" cy="329184"/>
          </a:xfrm>
          <a:prstGeom prst="rect">
            <a:avLst/>
          </a:prstGeom>
          <a:solidFill>
            <a:srgbClr val="0F1F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30391" y="1417320"/>
            <a:ext cx="5184648" cy="219456"/>
          </a:xfrm>
          <a:prstGeom prst="rect">
            <a:avLst/>
          </a:prstGeom>
          <a:noFill/>
        </p:spPr>
        <p:txBody>
          <a:bodyPr wrap="none" lIns="0" tIns="0" rIns="0" bIns="0">
            <a:spAutoFit/>
          </a:bodyPr>
          <a:lstStyle/>
          <a:p>
            <a:pPr>
              <a:defRPr sz="900" b="1">
                <a:solidFill>
                  <a:srgbClr val="FFFFFF"/>
                </a:solidFill>
                <a:latin typeface="Arial"/>
              </a:defRPr>
            </a:pPr>
            <a:r>
              <a:t>PROPOSED ALGORITHM: 4-STAGE STE OPTIMIZATION CYCLE   |   LATENT MASTER -&gt; DYNAMIC SCALE Δ -&gt; DISCRETE SNAP -&gt; STE GRADIENT BYPASS</a:t>
            </a:r>
          </a:p>
        </p:txBody>
      </p:sp>
      <p:pic>
        <p:nvPicPr>
          <p:cNvPr id="19" name="Picture 18" descr="fig2_qat_cycle.png"/>
          <p:cNvPicPr>
            <a:picLocks noChangeAspect="1"/>
          </p:cNvPicPr>
          <p:nvPr/>
        </p:nvPicPr>
        <p:blipFill>
          <a:blip r:embed="rId4"/>
          <a:stretch>
            <a:fillRect/>
          </a:stretch>
        </p:blipFill>
        <p:spPr>
          <a:xfrm>
            <a:off x="6312103" y="2260140"/>
            <a:ext cx="5221224" cy="2447448"/>
          </a:xfrm>
          <a:prstGeom prst="rect">
            <a:avLst/>
          </a:prstGeom>
          <a:ln w="9525">
            <a:solidFill>
              <a:srgbClr val="DCE3EC"/>
            </a:solidFill>
          </a:ln>
        </p:spPr>
      </p:pic>
      <p:sp>
        <p:nvSpPr>
          <p:cNvPr id="20" name="Rectangle 19"/>
          <p:cNvSpPr/>
          <p:nvPr/>
        </p:nvSpPr>
        <p:spPr>
          <a:xfrm>
            <a:off x="548640" y="5394960"/>
            <a:ext cx="11094415" cy="914400"/>
          </a:xfrm>
          <a:prstGeom prst="rect">
            <a:avLst/>
          </a:prstGeom>
          <a:solidFill>
            <a:srgbClr val="FFFFFF"/>
          </a:solidFill>
          <a:ln w="15240">
            <a:solidFill>
              <a:srgbClr val="DCE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 y="5394960"/>
            <a:ext cx="63500" cy="914400"/>
          </a:xfrm>
          <a:prstGeom prst="rect">
            <a:avLst/>
          </a:prstGeom>
          <a:solidFill>
            <a:srgbClr val="1E63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77240" y="5486400"/>
            <a:ext cx="10698480" cy="731520"/>
          </a:xfrm>
          <a:prstGeom prst="rect">
            <a:avLst/>
          </a:prstGeom>
          <a:noFill/>
        </p:spPr>
        <p:txBody>
          <a:bodyPr wrap="square">
            <a:spAutoFit/>
          </a:bodyPr>
          <a:lstStyle/>
          <a:p>
            <a:r>
              <a:rPr sz="950" b="1">
                <a:solidFill>
                  <a:srgbClr val="1E63EC"/>
                </a:solidFill>
                <a:latin typeface="Arial"/>
              </a:rPr>
              <a:t>PROPOSED ALGORITHM SUMMARY (ALGORITHM 1: DYNAMIC STRAIGHT-THROUGH ESTIMATOR):</a:t>
            </a:r>
          </a:p>
          <a:p>
            <a:pPr>
              <a:spcBef>
                <a:spcPts val="300"/>
              </a:spcBef>
              <a:defRPr sz="950">
                <a:solidFill>
                  <a:srgbClr val="0F172A"/>
                </a:solidFill>
                <a:latin typeface="Calibri"/>
              </a:defRPr>
            </a:pPr>
            <a:r>
              <a:t>1. Forward Pass: Compute dynamic scale Δ = mean(|W|) and threshold τ = 0.7Δ  →  Snap W_q ∈ {-Δ, 0, +Δ}  →  Execute matrix addition.</a:t>
            </a:r>
            <a:br/>
            <a:r>
              <a:t>2. Backward Pass: STE overrides discrete zero-derivative with identity (∂L/∂W_FP32 = ∂L/∂W_q · 1)  →  AdamW updates latent master weights.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0F1F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82880"/>
            <a:ext cx="11094415" cy="219456"/>
          </a:xfrm>
          <a:prstGeom prst="rect">
            <a:avLst/>
          </a:prstGeom>
          <a:noFill/>
        </p:spPr>
        <p:txBody>
          <a:bodyPr wrap="none" lIns="0" tIns="0" rIns="0" bIns="0">
            <a:spAutoFit/>
          </a:bodyPr>
          <a:lstStyle/>
          <a:p>
            <a:pPr>
              <a:defRPr sz="900" b="1">
                <a:solidFill>
                  <a:srgbClr val="1E63EC"/>
                </a:solidFill>
                <a:latin typeface="Arial"/>
              </a:defRPr>
            </a:pPr>
            <a:r>
              <a:t>06  ·  IMPLEMENTATION</a:t>
            </a:r>
          </a:p>
        </p:txBody>
      </p:sp>
      <p:sp>
        <p:nvSpPr>
          <p:cNvPr id="5" name="TextBox 4"/>
          <p:cNvSpPr txBox="1"/>
          <p:nvPr/>
        </p:nvSpPr>
        <p:spPr>
          <a:xfrm>
            <a:off x="548640" y="384048"/>
            <a:ext cx="11094415" cy="420624"/>
          </a:xfrm>
          <a:prstGeom prst="rect">
            <a:avLst/>
          </a:prstGeom>
          <a:noFill/>
        </p:spPr>
        <p:txBody>
          <a:bodyPr wrap="none" lIns="0" tIns="0" rIns="0" bIns="0">
            <a:spAutoFit/>
          </a:bodyPr>
          <a:lstStyle/>
          <a:p>
            <a:pPr>
              <a:defRPr sz="2000" b="1">
                <a:solidFill>
                  <a:srgbClr val="0F1F38"/>
                </a:solidFill>
                <a:latin typeface="Arial"/>
              </a:defRPr>
            </a:pPr>
            <a:r>
              <a:t>Implementation Details, Technology Stack &amp; Bit-Packing Engine</a:t>
            </a:r>
          </a:p>
        </p:txBody>
      </p:sp>
      <p:sp>
        <p:nvSpPr>
          <p:cNvPr id="6" name="Rectangle 5"/>
          <p:cNvSpPr/>
          <p:nvPr/>
        </p:nvSpPr>
        <p:spPr>
          <a:xfrm>
            <a:off x="548640" y="841248"/>
            <a:ext cx="11094415" cy="384048"/>
          </a:xfrm>
          <a:prstGeom prst="rect">
            <a:avLst/>
          </a:prstGeom>
          <a:solidFill>
            <a:srgbClr val="EEF4FF"/>
          </a:solidFill>
          <a:ln w="12700">
            <a:solidFill>
              <a:srgbClr val="B9D3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841248"/>
            <a:ext cx="63500" cy="384048"/>
          </a:xfrm>
          <a:prstGeom prst="rect">
            <a:avLst/>
          </a:prstGeom>
          <a:solidFill>
            <a:srgbClr val="1E63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896112"/>
            <a:ext cx="10865815" cy="274320"/>
          </a:xfrm>
          <a:prstGeom prst="rect">
            <a:avLst/>
          </a:prstGeom>
          <a:noFill/>
        </p:spPr>
        <p:txBody>
          <a:bodyPr wrap="square" lIns="0" tIns="0" rIns="0" bIns="0">
            <a:spAutoFit/>
          </a:bodyPr>
          <a:lstStyle/>
          <a:p>
            <a:r>
              <a:rPr sz="1000" b="1">
                <a:solidFill>
                  <a:srgbClr val="1E63EC"/>
                </a:solidFill>
                <a:latin typeface="Arial"/>
              </a:rPr>
              <a:t>KEY TAKEAWAY:  </a:t>
            </a:r>
            <a:r>
              <a:rPr sz="1000" b="1">
                <a:solidFill>
                  <a:srgbClr val="0F1F38"/>
                </a:solidFill>
                <a:latin typeface="Calibri"/>
              </a:rPr>
              <a:t>Trained on an NVIDIA Tesla T4 GPU over 30,000 multi-domain samples with custom 2-bit packing kernels.</a:t>
            </a:r>
          </a:p>
        </p:txBody>
      </p:sp>
      <p:sp>
        <p:nvSpPr>
          <p:cNvPr id="9" name="Rectangle 8"/>
          <p:cNvSpPr/>
          <p:nvPr/>
        </p:nvSpPr>
        <p:spPr>
          <a:xfrm>
            <a:off x="548640" y="6446520"/>
            <a:ext cx="11094415" cy="12700"/>
          </a:xfrm>
          <a:prstGeom prst="rect">
            <a:avLst/>
          </a:prstGeom>
          <a:solidFill>
            <a:srgbClr val="DCE3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6501384"/>
            <a:ext cx="8686800" cy="256032"/>
          </a:xfrm>
          <a:prstGeom prst="rect">
            <a:avLst/>
          </a:prstGeom>
          <a:noFill/>
        </p:spPr>
        <p:txBody>
          <a:bodyPr wrap="none" lIns="0" tIns="0" rIns="0" bIns="0">
            <a:spAutoFit/>
          </a:bodyPr>
          <a:lstStyle/>
          <a:p>
            <a:pPr>
              <a:defRPr sz="800" b="1">
                <a:solidFill>
                  <a:srgbClr val="475569"/>
                </a:solidFill>
                <a:latin typeface="Arial"/>
              </a:defRPr>
            </a:pPr>
            <a:r>
              <a:t>MAYANK RANA (24U021026)  ·  GUIDE: DR. YATENDRA SAHU  ·  IIIT BHOPAL  ·  GITHUB: https://github.com/Mayank-Rana1/llm_quantization</a:t>
            </a:r>
          </a:p>
        </p:txBody>
      </p:sp>
      <p:sp>
        <p:nvSpPr>
          <p:cNvPr id="11" name="TextBox 10"/>
          <p:cNvSpPr txBox="1"/>
          <p:nvPr/>
        </p:nvSpPr>
        <p:spPr>
          <a:xfrm>
            <a:off x="9357055" y="6501384"/>
            <a:ext cx="2286000" cy="256032"/>
          </a:xfrm>
          <a:prstGeom prst="rect">
            <a:avLst/>
          </a:prstGeom>
          <a:noFill/>
        </p:spPr>
        <p:txBody>
          <a:bodyPr wrap="none" lIns="0" tIns="0" rIns="0" bIns="0">
            <a:spAutoFit/>
          </a:bodyPr>
          <a:lstStyle/>
          <a:p>
            <a:pPr algn="r">
              <a:defRPr sz="850" b="1">
                <a:solidFill>
                  <a:srgbClr val="0F1F38"/>
                </a:solidFill>
                <a:latin typeface="Arial"/>
              </a:defRPr>
            </a:pPr>
            <a:r>
              <a:t>SLIDE 06 OF 09</a:t>
            </a:r>
          </a:p>
        </p:txBody>
      </p:sp>
      <p:sp>
        <p:nvSpPr>
          <p:cNvPr id="12" name="Rectangle 11"/>
          <p:cNvSpPr/>
          <p:nvPr/>
        </p:nvSpPr>
        <p:spPr>
          <a:xfrm>
            <a:off x="548640" y="1353312"/>
            <a:ext cx="5440680" cy="2423160"/>
          </a:xfrm>
          <a:prstGeom prst="rect">
            <a:avLst/>
          </a:prstGeom>
          <a:solidFill>
            <a:srgbClr val="FFFFFF"/>
          </a:solidFill>
          <a:ln w="15240">
            <a:solidFill>
              <a:srgbClr val="DCE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353312"/>
            <a:ext cx="5440680" cy="329184"/>
          </a:xfrm>
          <a:prstGeom prst="rect">
            <a:avLst/>
          </a:prstGeom>
          <a:solidFill>
            <a:srgbClr val="0F1F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4944" y="1417320"/>
            <a:ext cx="5148072" cy="219456"/>
          </a:xfrm>
          <a:prstGeom prst="rect">
            <a:avLst/>
          </a:prstGeom>
          <a:noFill/>
        </p:spPr>
        <p:txBody>
          <a:bodyPr wrap="none" lIns="0" tIns="0" rIns="0" bIns="0">
            <a:spAutoFit/>
          </a:bodyPr>
          <a:lstStyle/>
          <a:p>
            <a:pPr>
              <a:defRPr sz="900" b="1">
                <a:solidFill>
                  <a:srgbClr val="FFFFFF"/>
                </a:solidFill>
                <a:latin typeface="Arial"/>
              </a:defRPr>
            </a:pPr>
            <a:r>
              <a:t>1. HARDWARE &amp; SOFTWARE TECH STACK</a:t>
            </a:r>
          </a:p>
        </p:txBody>
      </p:sp>
      <p:sp>
        <p:nvSpPr>
          <p:cNvPr id="15" name="TextBox 14"/>
          <p:cNvSpPr txBox="1"/>
          <p:nvPr/>
        </p:nvSpPr>
        <p:spPr>
          <a:xfrm>
            <a:off x="713232" y="1773936"/>
            <a:ext cx="5111496" cy="1453896"/>
          </a:xfrm>
          <a:prstGeom prst="rect">
            <a:avLst/>
          </a:prstGeom>
          <a:noFill/>
        </p:spPr>
        <p:txBody>
          <a:bodyPr wrap="square" lIns="0" tIns="0" rIns="0" bIns="0">
            <a:spAutoFit/>
          </a:bodyPr>
          <a:lstStyle/>
          <a:p>
            <a:pPr>
              <a:spcAft>
                <a:spcPts val="800"/>
              </a:spcAft>
            </a:pPr>
            <a:r>
              <a:rPr sz="1100" b="1">
                <a:solidFill>
                  <a:srgbClr val="1E63EC"/>
                </a:solidFill>
                <a:latin typeface="Arial"/>
              </a:rPr>
              <a:t>▪ </a:t>
            </a:r>
            <a:r>
              <a:rPr sz="1100" b="1">
                <a:solidFill>
                  <a:srgbClr val="0F1F38"/>
                </a:solidFill>
                <a:latin typeface="Arial"/>
              </a:rPr>
              <a:t>Hardware Target:</a:t>
            </a:r>
            <a:r>
              <a:rPr sz="1100" b="0">
                <a:solidFill>
                  <a:srgbClr val="0F172A"/>
                </a:solidFill>
                <a:latin typeface="Calibri"/>
              </a:rPr>
              <a:t> NVIDIA Turing Tesla T4 GPU (14.75 GB VRAM, 320 Tensor Cores).</a:t>
            </a:r>
          </a:p>
          <a:p>
            <a:pPr>
              <a:spcAft>
                <a:spcPts val="800"/>
              </a:spcAft>
            </a:pPr>
            <a:r>
              <a:rPr sz="1100" b="1">
                <a:solidFill>
                  <a:srgbClr val="1E63EC"/>
                </a:solidFill>
                <a:latin typeface="Arial"/>
              </a:rPr>
              <a:t>▪ </a:t>
            </a:r>
            <a:r>
              <a:rPr sz="1100" b="1">
                <a:solidFill>
                  <a:srgbClr val="0F1F38"/>
                </a:solidFill>
                <a:latin typeface="Arial"/>
              </a:rPr>
              <a:t>Deep Learning Stack:</a:t>
            </a:r>
            <a:r>
              <a:rPr sz="1100" b="0">
                <a:solidFill>
                  <a:srgbClr val="0F172A"/>
                </a:solidFill>
                <a:latin typeface="Calibri"/>
              </a:rPr>
              <a:t> PyTorch 2.0+, Hugging Face `transformers`, `datasets`, `accelerate`.</a:t>
            </a:r>
          </a:p>
          <a:p>
            <a:pPr>
              <a:spcAft>
                <a:spcPts val="800"/>
              </a:spcAft>
            </a:pPr>
            <a:r>
              <a:rPr sz="1100" b="1">
                <a:solidFill>
                  <a:srgbClr val="1E63EC"/>
                </a:solidFill>
                <a:latin typeface="Arial"/>
              </a:rPr>
              <a:t>▪ </a:t>
            </a:r>
            <a:r>
              <a:rPr sz="1100" b="1">
                <a:solidFill>
                  <a:srgbClr val="0F1F38"/>
                </a:solidFill>
                <a:latin typeface="Arial"/>
              </a:rPr>
              <a:t>Optimizer &amp; Dynamics:</a:t>
            </a:r>
            <a:r>
              <a:rPr sz="1100" b="0">
                <a:solidFill>
                  <a:srgbClr val="0F172A"/>
                </a:solidFill>
                <a:latin typeface="Calibri"/>
              </a:rPr>
              <a:t> AdamW, Learning Rate = 3e-4 with Cosine Annealing, Weight Decay = 0.0.</a:t>
            </a:r>
          </a:p>
          <a:p>
            <a:pPr>
              <a:spcAft>
                <a:spcPts val="800"/>
              </a:spcAft>
            </a:pPr>
            <a:r>
              <a:rPr sz="1100" b="1">
                <a:solidFill>
                  <a:srgbClr val="1E63EC"/>
                </a:solidFill>
                <a:latin typeface="Arial"/>
              </a:rPr>
              <a:t>▪ </a:t>
            </a:r>
            <a:r>
              <a:rPr sz="1100" b="1">
                <a:solidFill>
                  <a:srgbClr val="0F1F38"/>
                </a:solidFill>
                <a:latin typeface="Arial"/>
              </a:rPr>
              <a:t>Total Training Steps:</a:t>
            </a:r>
            <a:r>
              <a:rPr sz="1100" b="0">
                <a:solidFill>
                  <a:srgbClr val="0F172A"/>
                </a:solidFill>
                <a:latin typeface="Calibri"/>
              </a:rPr>
              <a:t> 3,731 gradient steps per model (Peak VRAM: 2.8 GB).</a:t>
            </a:r>
          </a:p>
        </p:txBody>
      </p:sp>
      <p:sp>
        <p:nvSpPr>
          <p:cNvPr id="16" name="Rectangle 15"/>
          <p:cNvSpPr/>
          <p:nvPr/>
        </p:nvSpPr>
        <p:spPr>
          <a:xfrm>
            <a:off x="694944" y="3355848"/>
            <a:ext cx="5148072" cy="329184"/>
          </a:xfrm>
          <a:prstGeom prst="rect">
            <a:avLst/>
          </a:prstGeom>
          <a:solidFill>
            <a:srgbClr val="F1F5F9"/>
          </a:solidFill>
          <a:ln w="12700">
            <a:solidFill>
              <a:srgbClr val="DCE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94944" y="3355848"/>
            <a:ext cx="50800" cy="329184"/>
          </a:xfrm>
          <a:prstGeom prst="rect">
            <a:avLst/>
          </a:prstGeom>
          <a:solidFill>
            <a:srgbClr val="1E63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8096" y="3410712"/>
            <a:ext cx="4983480" cy="219456"/>
          </a:xfrm>
          <a:prstGeom prst="rect">
            <a:avLst/>
          </a:prstGeom>
          <a:noFill/>
        </p:spPr>
        <p:txBody>
          <a:bodyPr wrap="none" lIns="0" tIns="0" rIns="0" bIns="0">
            <a:spAutoFit/>
          </a:bodyPr>
          <a:lstStyle/>
          <a:p>
            <a:pPr>
              <a:defRPr sz="950" b="1">
                <a:solidFill>
                  <a:srgbClr val="0F1F38"/>
                </a:solidFill>
                <a:latin typeface="Arial"/>
              </a:defRPr>
            </a:pPr>
            <a:r>
              <a:t>Software Stack: PyTorch 2.0+ · Hugging Face · CUDA 12.2</a:t>
            </a:r>
          </a:p>
        </p:txBody>
      </p:sp>
      <p:sp>
        <p:nvSpPr>
          <p:cNvPr id="19" name="Rectangle 18"/>
          <p:cNvSpPr/>
          <p:nvPr/>
        </p:nvSpPr>
        <p:spPr>
          <a:xfrm>
            <a:off x="6202375" y="1353312"/>
            <a:ext cx="5440680" cy="2423160"/>
          </a:xfrm>
          <a:prstGeom prst="rect">
            <a:avLst/>
          </a:prstGeom>
          <a:solidFill>
            <a:srgbClr val="FFFFFF"/>
          </a:solidFill>
          <a:ln w="15240">
            <a:solidFill>
              <a:srgbClr val="DCE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02375" y="1353312"/>
            <a:ext cx="5440680" cy="329184"/>
          </a:xfrm>
          <a:prstGeom prst="rect">
            <a:avLst/>
          </a:prstGeom>
          <a:solidFill>
            <a:srgbClr val="0F1F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48679" y="1417320"/>
            <a:ext cx="5148072" cy="219456"/>
          </a:xfrm>
          <a:prstGeom prst="rect">
            <a:avLst/>
          </a:prstGeom>
          <a:noFill/>
        </p:spPr>
        <p:txBody>
          <a:bodyPr wrap="none" lIns="0" tIns="0" rIns="0" bIns="0">
            <a:spAutoFit/>
          </a:bodyPr>
          <a:lstStyle/>
          <a:p>
            <a:pPr>
              <a:defRPr sz="900" b="1">
                <a:solidFill>
                  <a:srgbClr val="FFFFFF"/>
                </a:solidFill>
                <a:latin typeface="Arial"/>
              </a:defRPr>
            </a:pPr>
            <a:r>
              <a:t>2. MULTI-DOMAIN TRAINING CORPUS (30,000 SAMPLES)</a:t>
            </a:r>
          </a:p>
        </p:txBody>
      </p:sp>
      <p:sp>
        <p:nvSpPr>
          <p:cNvPr id="22" name="TextBox 21"/>
          <p:cNvSpPr txBox="1"/>
          <p:nvPr/>
        </p:nvSpPr>
        <p:spPr>
          <a:xfrm>
            <a:off x="6366967" y="1773936"/>
            <a:ext cx="5111496" cy="1453896"/>
          </a:xfrm>
          <a:prstGeom prst="rect">
            <a:avLst/>
          </a:prstGeom>
          <a:noFill/>
        </p:spPr>
        <p:txBody>
          <a:bodyPr wrap="square" lIns="0" tIns="0" rIns="0" bIns="0">
            <a:spAutoFit/>
          </a:bodyPr>
          <a:lstStyle/>
          <a:p>
            <a:pPr>
              <a:spcAft>
                <a:spcPts val="800"/>
              </a:spcAft>
            </a:pPr>
            <a:r>
              <a:rPr sz="1100" b="1">
                <a:solidFill>
                  <a:srgbClr val="1E63EC"/>
                </a:solidFill>
                <a:latin typeface="Arial"/>
              </a:rPr>
              <a:t>▪ </a:t>
            </a:r>
            <a:r>
              <a:rPr sz="1100" b="1">
                <a:solidFill>
                  <a:srgbClr val="0F1F38"/>
                </a:solidFill>
                <a:latin typeface="Arial"/>
              </a:rPr>
              <a:t>TinyStories (60% / 18,000 samples):</a:t>
            </a:r>
            <a:r>
              <a:rPr sz="1100" b="0">
                <a:solidFill>
                  <a:srgbClr val="0F172A"/>
                </a:solidFill>
                <a:latin typeface="Calibri"/>
              </a:rPr>
              <a:t> Narrative fluency, syntax, and story grammar.</a:t>
            </a:r>
          </a:p>
          <a:p>
            <a:pPr>
              <a:spcAft>
                <a:spcPts val="800"/>
              </a:spcAft>
            </a:pPr>
            <a:r>
              <a:rPr sz="1100" b="1">
                <a:solidFill>
                  <a:srgbClr val="1E63EC"/>
                </a:solidFill>
                <a:latin typeface="Arial"/>
              </a:rPr>
              <a:t>▪ </a:t>
            </a:r>
            <a:r>
              <a:rPr sz="1100" b="1">
                <a:solidFill>
                  <a:srgbClr val="0F1F38"/>
                </a:solidFill>
                <a:latin typeface="Arial"/>
              </a:rPr>
              <a:t>WikiText-103 (20% / 6,000 samples):</a:t>
            </a:r>
            <a:r>
              <a:rPr sz="1100" b="0">
                <a:solidFill>
                  <a:srgbClr val="0F172A"/>
                </a:solidFill>
                <a:latin typeface="Calibri"/>
              </a:rPr>
              <a:t> Complex encyclopedic vocabulary and factual recall.</a:t>
            </a:r>
          </a:p>
          <a:p>
            <a:pPr>
              <a:spcAft>
                <a:spcPts val="800"/>
              </a:spcAft>
            </a:pPr>
            <a:r>
              <a:rPr sz="1100" b="1">
                <a:solidFill>
                  <a:srgbClr val="1E63EC"/>
                </a:solidFill>
                <a:latin typeface="Arial"/>
              </a:rPr>
              <a:t>▪ </a:t>
            </a:r>
            <a:r>
              <a:rPr sz="1100" b="1">
                <a:solidFill>
                  <a:srgbClr val="0F1F38"/>
                </a:solidFill>
                <a:latin typeface="Arial"/>
              </a:rPr>
              <a:t>Alpaca-52K (20% / 6,000 samples):</a:t>
            </a:r>
            <a:r>
              <a:rPr sz="1100" b="0">
                <a:solidFill>
                  <a:srgbClr val="0F172A"/>
                </a:solidFill>
                <a:latin typeface="Calibri"/>
              </a:rPr>
              <a:t> Structured instruction-following alignment.</a:t>
            </a:r>
          </a:p>
          <a:p>
            <a:pPr>
              <a:spcAft>
                <a:spcPts val="800"/>
              </a:spcAft>
            </a:pPr>
            <a:r>
              <a:rPr sz="1100" b="1">
                <a:solidFill>
                  <a:srgbClr val="1E63EC"/>
                </a:solidFill>
                <a:latin typeface="Arial"/>
              </a:rPr>
              <a:t>▪ </a:t>
            </a:r>
            <a:r>
              <a:rPr sz="1100" b="1">
                <a:solidFill>
                  <a:srgbClr val="0F1F38"/>
                </a:solidFill>
                <a:latin typeface="Arial"/>
              </a:rPr>
              <a:t>Data Hygiene:</a:t>
            </a:r>
            <a:r>
              <a:rPr sz="1100" b="0">
                <a:solidFill>
                  <a:srgbClr val="0F172A"/>
                </a:solidFill>
                <a:latin typeface="Calibri"/>
              </a:rPr>
              <a:t> Filtered out corrupted sequences; padded and causal-masked to 512 tokens.</a:t>
            </a:r>
          </a:p>
        </p:txBody>
      </p:sp>
      <p:sp>
        <p:nvSpPr>
          <p:cNvPr id="23" name="Rectangle 22"/>
          <p:cNvSpPr/>
          <p:nvPr/>
        </p:nvSpPr>
        <p:spPr>
          <a:xfrm>
            <a:off x="6348679" y="3355848"/>
            <a:ext cx="5148072" cy="329184"/>
          </a:xfrm>
          <a:prstGeom prst="rect">
            <a:avLst/>
          </a:prstGeom>
          <a:solidFill>
            <a:srgbClr val="F1F5F9"/>
          </a:solidFill>
          <a:ln w="12700">
            <a:solidFill>
              <a:srgbClr val="DCE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348679" y="3355848"/>
            <a:ext cx="50800" cy="329184"/>
          </a:xfrm>
          <a:prstGeom prst="rect">
            <a:avLst/>
          </a:prstGeom>
          <a:solidFill>
            <a:srgbClr val="1E63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21831" y="3410712"/>
            <a:ext cx="4983480" cy="219456"/>
          </a:xfrm>
          <a:prstGeom prst="rect">
            <a:avLst/>
          </a:prstGeom>
          <a:noFill/>
        </p:spPr>
        <p:txBody>
          <a:bodyPr wrap="none" lIns="0" tIns="0" rIns="0" bIns="0">
            <a:spAutoFit/>
          </a:bodyPr>
          <a:lstStyle/>
          <a:p>
            <a:pPr>
              <a:defRPr sz="950" b="1">
                <a:solidFill>
                  <a:srgbClr val="0F1F38"/>
                </a:solidFill>
                <a:latin typeface="Arial"/>
              </a:defRPr>
            </a:pPr>
            <a:r>
              <a:t>Balanced Tri-Dataset Mixture ensures multi-task generalization</a:t>
            </a:r>
          </a:p>
        </p:txBody>
      </p:sp>
      <p:sp>
        <p:nvSpPr>
          <p:cNvPr id="26" name="Rectangle 25"/>
          <p:cNvSpPr/>
          <p:nvPr/>
        </p:nvSpPr>
        <p:spPr>
          <a:xfrm>
            <a:off x="548640" y="3931920"/>
            <a:ext cx="5440680" cy="2423160"/>
          </a:xfrm>
          <a:prstGeom prst="rect">
            <a:avLst/>
          </a:prstGeom>
          <a:solidFill>
            <a:srgbClr val="FFFFFF"/>
          </a:solidFill>
          <a:ln w="15240">
            <a:solidFill>
              <a:srgbClr val="DCE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48640" y="3931920"/>
            <a:ext cx="5440680" cy="329184"/>
          </a:xfrm>
          <a:prstGeom prst="rect">
            <a:avLst/>
          </a:prstGeom>
          <a:solidFill>
            <a:srgbClr val="0F1F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94944" y="3995928"/>
            <a:ext cx="5148072" cy="219456"/>
          </a:xfrm>
          <a:prstGeom prst="rect">
            <a:avLst/>
          </a:prstGeom>
          <a:noFill/>
        </p:spPr>
        <p:txBody>
          <a:bodyPr wrap="none" lIns="0" tIns="0" rIns="0" bIns="0">
            <a:spAutoFit/>
          </a:bodyPr>
          <a:lstStyle/>
          <a:p>
            <a:pPr>
              <a:defRPr sz="900" b="1">
                <a:solidFill>
                  <a:srgbClr val="FFFFFF"/>
                </a:solidFill>
                <a:latin typeface="Arial"/>
              </a:defRPr>
            </a:pPr>
            <a:r>
              <a:t>3. REAL 2-BIT BIT-PACKING ENGINE (`BIT_PACKING_KERNEL.PY`)</a:t>
            </a:r>
          </a:p>
        </p:txBody>
      </p:sp>
      <p:sp>
        <p:nvSpPr>
          <p:cNvPr id="29" name="TextBox 28"/>
          <p:cNvSpPr txBox="1"/>
          <p:nvPr/>
        </p:nvSpPr>
        <p:spPr>
          <a:xfrm>
            <a:off x="713232" y="4352544"/>
            <a:ext cx="5111496" cy="1453896"/>
          </a:xfrm>
          <a:prstGeom prst="rect">
            <a:avLst/>
          </a:prstGeom>
          <a:noFill/>
        </p:spPr>
        <p:txBody>
          <a:bodyPr wrap="square" lIns="0" tIns="0" rIns="0" bIns="0">
            <a:spAutoFit/>
          </a:bodyPr>
          <a:lstStyle/>
          <a:p>
            <a:pPr>
              <a:spcAft>
                <a:spcPts val="800"/>
              </a:spcAft>
            </a:pPr>
            <a:r>
              <a:rPr sz="1100" b="1">
                <a:solidFill>
                  <a:srgbClr val="1E63EC"/>
                </a:solidFill>
                <a:latin typeface="Arial"/>
              </a:rPr>
              <a:t>▪ </a:t>
            </a:r>
            <a:r>
              <a:rPr sz="1100" b="1">
                <a:solidFill>
                  <a:srgbClr val="0F1F38"/>
                </a:solidFill>
                <a:latin typeface="Arial"/>
              </a:rPr>
              <a:t>4 Weights per Byte uint8 Format:</a:t>
            </a:r>
            <a:r>
              <a:rPr sz="1100" b="0">
                <a:solidFill>
                  <a:srgbClr val="0F172A"/>
                </a:solidFill>
                <a:latin typeface="Calibri"/>
              </a:rPr>
              <a:t> `00` = 0 | `01` = +Δ | `10` = -Δ | `11` = Reserved.</a:t>
            </a:r>
          </a:p>
          <a:p>
            <a:pPr>
              <a:spcAft>
                <a:spcPts val="800"/>
              </a:spcAft>
            </a:pPr>
            <a:r>
              <a:rPr sz="1100" b="1">
                <a:solidFill>
                  <a:srgbClr val="1E63EC"/>
                </a:solidFill>
                <a:latin typeface="Arial"/>
              </a:rPr>
              <a:t>▪ </a:t>
            </a:r>
            <a:r>
              <a:rPr sz="1100" b="1">
                <a:solidFill>
                  <a:srgbClr val="0F1F38"/>
                </a:solidFill>
                <a:latin typeface="Arial"/>
              </a:rPr>
              <a:t>Bitwise Shifting:</a:t>
            </a:r>
            <a:r>
              <a:rPr sz="1100" b="0">
                <a:solidFill>
                  <a:srgbClr val="0F172A"/>
                </a:solidFill>
                <a:latin typeface="Calibri"/>
              </a:rPr>
              <a:t> Byte = (w₀ &lt;&lt; 6) | (w₁ &lt;&lt; 4) | (w₂ &lt;&lt; 2) | w₃.</a:t>
            </a:r>
          </a:p>
          <a:p>
            <a:pPr>
              <a:spcAft>
                <a:spcPts val="800"/>
              </a:spcAft>
            </a:pPr>
            <a:r>
              <a:rPr sz="1100" b="1">
                <a:solidFill>
                  <a:srgbClr val="1E63EC"/>
                </a:solidFill>
                <a:latin typeface="Arial"/>
              </a:rPr>
              <a:t>▪ </a:t>
            </a:r>
            <a:r>
              <a:rPr sz="1100" b="1">
                <a:solidFill>
                  <a:srgbClr val="0F1F38"/>
                </a:solidFill>
                <a:latin typeface="Arial"/>
              </a:rPr>
              <a:t>Multiplication-Free GEMV:</a:t>
            </a:r>
            <a:r>
              <a:rPr sz="1100" b="0">
                <a:solidFill>
                  <a:srgbClr val="0F172A"/>
                </a:solidFill>
                <a:latin typeface="Calibri"/>
              </a:rPr>
              <a:t> y_i = Δ_i · [ Σ_{w=+Δ} x_j − Σ_{w=-Δ} x_k ].</a:t>
            </a:r>
          </a:p>
          <a:p>
            <a:pPr>
              <a:spcAft>
                <a:spcPts val="800"/>
              </a:spcAft>
            </a:pPr>
            <a:r>
              <a:rPr sz="1100" b="1">
                <a:solidFill>
                  <a:srgbClr val="1E63EC"/>
                </a:solidFill>
                <a:latin typeface="Arial"/>
              </a:rPr>
              <a:t>▪ </a:t>
            </a:r>
            <a:r>
              <a:rPr sz="1100" b="1">
                <a:solidFill>
                  <a:srgbClr val="0F1F38"/>
                </a:solidFill>
                <a:latin typeface="Arial"/>
              </a:rPr>
              <a:t>Verification:</a:t>
            </a:r>
            <a:r>
              <a:rPr sz="1100" b="0">
                <a:solidFill>
                  <a:srgbClr val="0F172A"/>
                </a:solidFill>
                <a:latin typeface="Calibri"/>
              </a:rPr>
              <a:t> Roundtrip reconstruction verified with zero numerical error (error &lt; 10⁻⁵).</a:t>
            </a:r>
          </a:p>
        </p:txBody>
      </p:sp>
      <p:sp>
        <p:nvSpPr>
          <p:cNvPr id="30" name="Rectangle 29"/>
          <p:cNvSpPr/>
          <p:nvPr/>
        </p:nvSpPr>
        <p:spPr>
          <a:xfrm>
            <a:off x="694944" y="5934456"/>
            <a:ext cx="5148072" cy="329184"/>
          </a:xfrm>
          <a:prstGeom prst="rect">
            <a:avLst/>
          </a:prstGeom>
          <a:solidFill>
            <a:srgbClr val="F1F5F9"/>
          </a:solidFill>
          <a:ln w="12700">
            <a:solidFill>
              <a:srgbClr val="DCE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94944" y="5934456"/>
            <a:ext cx="50800" cy="329184"/>
          </a:xfrm>
          <a:prstGeom prst="rect">
            <a:avLst/>
          </a:prstGeom>
          <a:solidFill>
            <a:srgbClr val="1E63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68096" y="5989320"/>
            <a:ext cx="4983480" cy="219456"/>
          </a:xfrm>
          <a:prstGeom prst="rect">
            <a:avLst/>
          </a:prstGeom>
          <a:noFill/>
        </p:spPr>
        <p:txBody>
          <a:bodyPr wrap="none" lIns="0" tIns="0" rIns="0" bIns="0">
            <a:spAutoFit/>
          </a:bodyPr>
          <a:lstStyle/>
          <a:p>
            <a:pPr>
              <a:defRPr sz="950" b="1">
                <a:solidFill>
                  <a:srgbClr val="0F1F38"/>
                </a:solidFill>
                <a:latin typeface="Arial"/>
              </a:defRPr>
            </a:pPr>
            <a:r>
              <a:t>Custom C++/Python Kernel packs 4 weights per byte with zero error</a:t>
            </a:r>
          </a:p>
        </p:txBody>
      </p:sp>
      <p:sp>
        <p:nvSpPr>
          <p:cNvPr id="33" name="Rectangle 32"/>
          <p:cNvSpPr/>
          <p:nvPr/>
        </p:nvSpPr>
        <p:spPr>
          <a:xfrm>
            <a:off x="6202375" y="3931920"/>
            <a:ext cx="5440680" cy="2423160"/>
          </a:xfrm>
          <a:prstGeom prst="rect">
            <a:avLst/>
          </a:prstGeom>
          <a:solidFill>
            <a:srgbClr val="FFFFFF"/>
          </a:solidFill>
          <a:ln w="15240">
            <a:solidFill>
              <a:srgbClr val="DCE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202375" y="3931920"/>
            <a:ext cx="5440680" cy="329184"/>
          </a:xfrm>
          <a:prstGeom prst="rect">
            <a:avLst/>
          </a:prstGeom>
          <a:solidFill>
            <a:srgbClr val="0F1F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348679" y="3995928"/>
            <a:ext cx="5148072" cy="219456"/>
          </a:xfrm>
          <a:prstGeom prst="rect">
            <a:avLst/>
          </a:prstGeom>
          <a:noFill/>
        </p:spPr>
        <p:txBody>
          <a:bodyPr wrap="none" lIns="0" tIns="0" rIns="0" bIns="0">
            <a:spAutoFit/>
          </a:bodyPr>
          <a:lstStyle/>
          <a:p>
            <a:pPr>
              <a:defRPr sz="900" b="1">
                <a:solidFill>
                  <a:srgbClr val="FFFFFF"/>
                </a:solidFill>
                <a:latin typeface="Arial"/>
              </a:defRPr>
            </a:pPr>
            <a:r>
              <a:t>4. REPRODUCIBILITY &amp; GITHUB REPOSITORY</a:t>
            </a:r>
          </a:p>
        </p:txBody>
      </p:sp>
      <p:sp>
        <p:nvSpPr>
          <p:cNvPr id="36" name="TextBox 35"/>
          <p:cNvSpPr txBox="1"/>
          <p:nvPr/>
        </p:nvSpPr>
        <p:spPr>
          <a:xfrm>
            <a:off x="6366967" y="4352544"/>
            <a:ext cx="5111496" cy="1453896"/>
          </a:xfrm>
          <a:prstGeom prst="rect">
            <a:avLst/>
          </a:prstGeom>
          <a:noFill/>
        </p:spPr>
        <p:txBody>
          <a:bodyPr wrap="square" lIns="0" tIns="0" rIns="0" bIns="0">
            <a:spAutoFit/>
          </a:bodyPr>
          <a:lstStyle/>
          <a:p>
            <a:pPr>
              <a:spcAft>
                <a:spcPts val="800"/>
              </a:spcAft>
            </a:pPr>
            <a:r>
              <a:rPr sz="1100" b="1">
                <a:solidFill>
                  <a:srgbClr val="0E9355"/>
                </a:solidFill>
                <a:latin typeface="Arial"/>
              </a:rPr>
              <a:t>▪ </a:t>
            </a:r>
            <a:r>
              <a:rPr sz="1100" b="1">
                <a:solidFill>
                  <a:srgbClr val="0F1F38"/>
                </a:solidFill>
                <a:latin typeface="Arial"/>
              </a:rPr>
              <a:t>Mandatory Repo Link:</a:t>
            </a:r>
            <a:r>
              <a:rPr sz="1100" b="0">
                <a:solidFill>
                  <a:srgbClr val="0F172A"/>
                </a:solidFill>
                <a:latin typeface="Calibri"/>
              </a:rPr>
              <a:t> https://github.com/Mayank-Rana1/llm_quantization</a:t>
            </a:r>
          </a:p>
          <a:p>
            <a:pPr>
              <a:spcAft>
                <a:spcPts val="800"/>
              </a:spcAft>
            </a:pPr>
            <a:r>
              <a:rPr sz="1100" b="1">
                <a:solidFill>
                  <a:srgbClr val="0E9355"/>
                </a:solidFill>
                <a:latin typeface="Arial"/>
              </a:rPr>
              <a:t>▪ </a:t>
            </a:r>
            <a:r>
              <a:rPr sz="1100" b="1">
                <a:solidFill>
                  <a:srgbClr val="0F1F38"/>
                </a:solidFill>
                <a:latin typeface="Arial"/>
              </a:rPr>
              <a:t>1-Click Interactive CLI Demo:</a:t>
            </a:r>
            <a:r>
              <a:rPr sz="1100" b="0">
                <a:solidFill>
                  <a:srgbClr val="0F172A"/>
                </a:solidFill>
                <a:latin typeface="Calibri"/>
              </a:rPr>
              <a:t> `python run_inference.py --compare`.</a:t>
            </a:r>
          </a:p>
          <a:p>
            <a:pPr>
              <a:spcAft>
                <a:spcPts val="800"/>
              </a:spcAft>
            </a:pPr>
            <a:r>
              <a:rPr sz="1100" b="1">
                <a:solidFill>
                  <a:srgbClr val="0E9355"/>
                </a:solidFill>
                <a:latin typeface="Arial"/>
              </a:rPr>
              <a:t>▪ </a:t>
            </a:r>
            <a:r>
              <a:rPr sz="1100" b="1">
                <a:solidFill>
                  <a:srgbClr val="0F1F38"/>
                </a:solidFill>
                <a:latin typeface="Arial"/>
              </a:rPr>
              <a:t>Unified Verification Suite:</a:t>
            </a:r>
            <a:r>
              <a:rPr sz="1100" b="0">
                <a:solidFill>
                  <a:srgbClr val="0F172A"/>
                </a:solidFill>
                <a:latin typeface="Calibri"/>
              </a:rPr>
              <a:t> `python benchmark_packing_and_metrics.py`.</a:t>
            </a:r>
          </a:p>
          <a:p>
            <a:pPr>
              <a:spcAft>
                <a:spcPts val="800"/>
              </a:spcAft>
            </a:pPr>
            <a:r>
              <a:rPr sz="1100" b="1">
                <a:solidFill>
                  <a:srgbClr val="0E9355"/>
                </a:solidFill>
                <a:latin typeface="Arial"/>
              </a:rPr>
              <a:t>▪ </a:t>
            </a:r>
            <a:r>
              <a:rPr sz="1100" b="1">
                <a:solidFill>
                  <a:srgbClr val="0F1F38"/>
                </a:solidFill>
                <a:latin typeface="Arial"/>
              </a:rPr>
              <a:t>Checkpoints Packaged:</a:t>
            </a:r>
            <a:r>
              <a:rPr sz="1100" b="0">
                <a:solidFill>
                  <a:srgbClr val="0F172A"/>
                </a:solidFill>
                <a:latin typeface="Calibri"/>
              </a:rPr>
              <a:t> Saved SafeTensors for Models A, B, C, and D with tokenizers.</a:t>
            </a:r>
          </a:p>
        </p:txBody>
      </p:sp>
      <p:sp>
        <p:nvSpPr>
          <p:cNvPr id="37" name="Rectangle 36"/>
          <p:cNvSpPr/>
          <p:nvPr/>
        </p:nvSpPr>
        <p:spPr>
          <a:xfrm>
            <a:off x="6348679" y="5934456"/>
            <a:ext cx="5148072" cy="329184"/>
          </a:xfrm>
          <a:prstGeom prst="rect">
            <a:avLst/>
          </a:prstGeom>
          <a:solidFill>
            <a:srgbClr val="F1F5F9"/>
          </a:solidFill>
          <a:ln w="12700">
            <a:solidFill>
              <a:srgbClr val="DCE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6348679" y="5934456"/>
            <a:ext cx="50800" cy="329184"/>
          </a:xfrm>
          <a:prstGeom prst="rect">
            <a:avLst/>
          </a:prstGeom>
          <a:solidFill>
            <a:srgbClr val="0E93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421831" y="5989320"/>
            <a:ext cx="4983480" cy="219456"/>
          </a:xfrm>
          <a:prstGeom prst="rect">
            <a:avLst/>
          </a:prstGeom>
          <a:noFill/>
        </p:spPr>
        <p:txBody>
          <a:bodyPr wrap="none" lIns="0" tIns="0" rIns="0" bIns="0">
            <a:spAutoFit/>
          </a:bodyPr>
          <a:lstStyle/>
          <a:p>
            <a:pPr>
              <a:defRPr sz="950" b="1">
                <a:solidFill>
                  <a:srgbClr val="0F1F38"/>
                </a:solidFill>
                <a:latin typeface="Arial"/>
              </a:defRPr>
            </a:pPr>
            <a:r>
              <a:t>Full Code, Checkpoints, and Reproduction Steps Hosted on GitHub</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0F1F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82880"/>
            <a:ext cx="11094415" cy="219456"/>
          </a:xfrm>
          <a:prstGeom prst="rect">
            <a:avLst/>
          </a:prstGeom>
          <a:noFill/>
        </p:spPr>
        <p:txBody>
          <a:bodyPr wrap="none" lIns="0" tIns="0" rIns="0" bIns="0">
            <a:spAutoFit/>
          </a:bodyPr>
          <a:lstStyle/>
          <a:p>
            <a:pPr>
              <a:defRPr sz="900" b="1">
                <a:solidFill>
                  <a:srgbClr val="1E63EC"/>
                </a:solidFill>
                <a:latin typeface="Arial"/>
              </a:defRPr>
            </a:pPr>
            <a:r>
              <a:t>07  ·  RESULTS, COMPARISON, AND ANALYSIS</a:t>
            </a:r>
          </a:p>
        </p:txBody>
      </p:sp>
      <p:sp>
        <p:nvSpPr>
          <p:cNvPr id="5" name="TextBox 4"/>
          <p:cNvSpPr txBox="1"/>
          <p:nvPr/>
        </p:nvSpPr>
        <p:spPr>
          <a:xfrm>
            <a:off x="548640" y="384048"/>
            <a:ext cx="11094415" cy="420624"/>
          </a:xfrm>
          <a:prstGeom prst="rect">
            <a:avLst/>
          </a:prstGeom>
          <a:noFill/>
        </p:spPr>
        <p:txBody>
          <a:bodyPr wrap="none" lIns="0" tIns="0" rIns="0" bIns="0">
            <a:spAutoFit/>
          </a:bodyPr>
          <a:lstStyle/>
          <a:p>
            <a:pPr>
              <a:defRPr sz="2000" b="1">
                <a:solidFill>
                  <a:srgbClr val="0F1F38"/>
                </a:solidFill>
                <a:latin typeface="Arial"/>
              </a:defRPr>
            </a:pPr>
            <a:r>
              <a:t>Master Factorial Benchmark &amp; Statistical Verification</a:t>
            </a:r>
          </a:p>
        </p:txBody>
      </p:sp>
      <p:sp>
        <p:nvSpPr>
          <p:cNvPr id="6" name="Rectangle 5"/>
          <p:cNvSpPr/>
          <p:nvPr/>
        </p:nvSpPr>
        <p:spPr>
          <a:xfrm>
            <a:off x="548640" y="841248"/>
            <a:ext cx="11094415" cy="384048"/>
          </a:xfrm>
          <a:prstGeom prst="rect">
            <a:avLst/>
          </a:prstGeom>
          <a:solidFill>
            <a:srgbClr val="EEF4FF"/>
          </a:solidFill>
          <a:ln w="12700">
            <a:solidFill>
              <a:srgbClr val="B9D3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841248"/>
            <a:ext cx="63500" cy="384048"/>
          </a:xfrm>
          <a:prstGeom prst="rect">
            <a:avLst/>
          </a:prstGeom>
          <a:solidFill>
            <a:srgbClr val="1E63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896112"/>
            <a:ext cx="10865815" cy="274320"/>
          </a:xfrm>
          <a:prstGeom prst="rect">
            <a:avLst/>
          </a:prstGeom>
          <a:noFill/>
        </p:spPr>
        <p:txBody>
          <a:bodyPr wrap="square" lIns="0" tIns="0" rIns="0" bIns="0">
            <a:spAutoFit/>
          </a:bodyPr>
          <a:lstStyle/>
          <a:p>
            <a:r>
              <a:rPr sz="1000" b="1">
                <a:solidFill>
                  <a:srgbClr val="1E63EC"/>
                </a:solidFill>
                <a:latin typeface="Arial"/>
              </a:rPr>
              <a:t>KEY TAKEAWAY:  </a:t>
            </a:r>
            <a:r>
              <a:rPr sz="1000" b="1">
                <a:solidFill>
                  <a:srgbClr val="0F1F38"/>
                </a:solidFill>
                <a:latin typeface="Calibri"/>
              </a:rPr>
              <a:t>Quantization degrades complex factual text (+330% PPL), but Teacher KD recovers 17.2% error with 8x compression.</a:t>
            </a:r>
          </a:p>
        </p:txBody>
      </p:sp>
      <p:sp>
        <p:nvSpPr>
          <p:cNvPr id="9" name="Rectangle 8"/>
          <p:cNvSpPr/>
          <p:nvPr/>
        </p:nvSpPr>
        <p:spPr>
          <a:xfrm>
            <a:off x="548640" y="6446520"/>
            <a:ext cx="11094415" cy="12700"/>
          </a:xfrm>
          <a:prstGeom prst="rect">
            <a:avLst/>
          </a:prstGeom>
          <a:solidFill>
            <a:srgbClr val="DCE3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6501384"/>
            <a:ext cx="8686800" cy="256032"/>
          </a:xfrm>
          <a:prstGeom prst="rect">
            <a:avLst/>
          </a:prstGeom>
          <a:noFill/>
        </p:spPr>
        <p:txBody>
          <a:bodyPr wrap="none" lIns="0" tIns="0" rIns="0" bIns="0">
            <a:spAutoFit/>
          </a:bodyPr>
          <a:lstStyle/>
          <a:p>
            <a:pPr>
              <a:defRPr sz="800" b="1">
                <a:solidFill>
                  <a:srgbClr val="475569"/>
                </a:solidFill>
                <a:latin typeface="Arial"/>
              </a:defRPr>
            </a:pPr>
            <a:r>
              <a:t>MAYANK RANA (24U021026)  ·  GUIDE: DR. YATENDRA SAHU  ·  IIIT BHOPAL  ·  GITHUB: https://github.com/Mayank-Rana1/llm_quantization</a:t>
            </a:r>
          </a:p>
        </p:txBody>
      </p:sp>
      <p:sp>
        <p:nvSpPr>
          <p:cNvPr id="11" name="TextBox 10"/>
          <p:cNvSpPr txBox="1"/>
          <p:nvPr/>
        </p:nvSpPr>
        <p:spPr>
          <a:xfrm>
            <a:off x="9357055" y="6501384"/>
            <a:ext cx="2286000" cy="256032"/>
          </a:xfrm>
          <a:prstGeom prst="rect">
            <a:avLst/>
          </a:prstGeom>
          <a:noFill/>
        </p:spPr>
        <p:txBody>
          <a:bodyPr wrap="none" lIns="0" tIns="0" rIns="0" bIns="0">
            <a:spAutoFit/>
          </a:bodyPr>
          <a:lstStyle/>
          <a:p>
            <a:pPr algn="r">
              <a:defRPr sz="850" b="1">
                <a:solidFill>
                  <a:srgbClr val="0F1F38"/>
                </a:solidFill>
                <a:latin typeface="Arial"/>
              </a:defRPr>
            </a:pPr>
            <a:r>
              <a:t>SLIDE 07 OF 09</a:t>
            </a:r>
          </a:p>
        </p:txBody>
      </p:sp>
      <p:graphicFrame>
        <p:nvGraphicFramePr>
          <p:cNvPr id="12" name="Table 11"/>
          <p:cNvGraphicFramePr>
            <a:graphicFrameLocks noGrp="1"/>
          </p:cNvGraphicFramePr>
          <p:nvPr/>
        </p:nvGraphicFramePr>
        <p:xfrm>
          <a:off x="548640" y="1353312"/>
          <a:ext cx="11094411" cy="2148840"/>
        </p:xfrm>
        <a:graphic>
          <a:graphicData uri="http://schemas.openxmlformats.org/drawingml/2006/table">
            <a:tbl>
              <a:tblPr firstRow="1" bandRow="1">
                <a:tableStyleId>{5C22544A-7EE6-4342-B048-85BDC9FD1C3A}</a:tableStyleId>
              </a:tblPr>
              <a:tblGrid>
                <a:gridCol w="1664162"/>
                <a:gridCol w="1220385"/>
                <a:gridCol w="1664162"/>
                <a:gridCol w="998497"/>
                <a:gridCol w="1220385"/>
                <a:gridCol w="1220385"/>
                <a:gridCol w="998497"/>
                <a:gridCol w="998497"/>
                <a:gridCol w="1109441"/>
              </a:tblGrid>
              <a:tr h="429768">
                <a:tc>
                  <a:txBody>
                    <a:bodyPr/>
                    <a:lstStyle/>
                    <a:p>
                      <a:pPr>
                        <a:defRPr sz="850" b="1">
                          <a:solidFill>
                            <a:srgbClr val="FFFFFF"/>
                          </a:solidFill>
                          <a:latin typeface="Arial"/>
                        </a:defRPr>
                      </a:pPr>
                      <a:r>
                        <a:t>MODEL TESTED</a:t>
                      </a:r>
                    </a:p>
                  </a:txBody>
                  <a:tcPr anchor="ctr" marL="73152" marR="73152" marT="36576" marB="36576">
                    <a:solidFill>
                      <a:srgbClr val="0F1F38"/>
                    </a:solidFill>
                  </a:tcPr>
                </a:tc>
                <a:tc>
                  <a:txBody>
                    <a:bodyPr/>
                    <a:lstStyle/>
                    <a:p>
                      <a:pPr>
                        <a:defRPr sz="850" b="1">
                          <a:solidFill>
                            <a:srgbClr val="FFFFFF"/>
                          </a:solidFill>
                          <a:latin typeface="Arial"/>
                        </a:defRPr>
                      </a:pPr>
                      <a:r>
                        <a:t>PRECISION</a:t>
                      </a:r>
                    </a:p>
                  </a:txBody>
                  <a:tcPr anchor="ctr" marL="73152" marR="73152" marT="36576" marB="36576">
                    <a:solidFill>
                      <a:srgbClr val="0F1F38"/>
                    </a:solidFill>
                  </a:tcPr>
                </a:tc>
                <a:tc>
                  <a:txBody>
                    <a:bodyPr/>
                    <a:lstStyle/>
                    <a:p>
                      <a:pPr>
                        <a:defRPr sz="850" b="1">
                          <a:solidFill>
                            <a:srgbClr val="FFFFFF"/>
                          </a:solidFill>
                          <a:latin typeface="Arial"/>
                        </a:defRPr>
                      </a:pPr>
                      <a:r>
                        <a:t>TRAINING SUPERVISION</a:t>
                      </a:r>
                    </a:p>
                  </a:txBody>
                  <a:tcPr anchor="ctr" marL="73152" marR="73152" marT="36576" marB="36576">
                    <a:solidFill>
                      <a:srgbClr val="0F1F38"/>
                    </a:solidFill>
                  </a:tcPr>
                </a:tc>
                <a:tc>
                  <a:txBody>
                    <a:bodyPr/>
                    <a:lstStyle/>
                    <a:p>
                      <a:pPr>
                        <a:defRPr sz="850" b="1">
                          <a:solidFill>
                            <a:srgbClr val="FFFFFF"/>
                          </a:solidFill>
                          <a:latin typeface="Arial"/>
                        </a:defRPr>
                      </a:pPr>
                      <a:r>
                        <a:t>STORIES PPL ↓</a:t>
                      </a:r>
                    </a:p>
                  </a:txBody>
                  <a:tcPr anchor="ctr" marL="73152" marR="73152" marT="36576" marB="36576">
                    <a:solidFill>
                      <a:srgbClr val="0F1F38"/>
                    </a:solidFill>
                  </a:tcPr>
                </a:tc>
                <a:tc>
                  <a:txBody>
                    <a:bodyPr/>
                    <a:lstStyle/>
                    <a:p>
                      <a:pPr>
                        <a:defRPr sz="850" b="1">
                          <a:solidFill>
                            <a:srgbClr val="FFFFFF"/>
                          </a:solidFill>
                          <a:latin typeface="Arial"/>
                        </a:defRPr>
                      </a:pPr>
                      <a:r>
                        <a:t>WIKITEXT PPL ↓</a:t>
                      </a:r>
                    </a:p>
                  </a:txBody>
                  <a:tcPr anchor="ctr" marL="73152" marR="73152" marT="36576" marB="36576">
                    <a:solidFill>
                      <a:srgbClr val="0F1F38"/>
                    </a:solidFill>
                  </a:tcPr>
                </a:tc>
                <a:tc>
                  <a:txBody>
                    <a:bodyPr/>
                    <a:lstStyle/>
                    <a:p>
                      <a:pPr>
                        <a:defRPr sz="850" b="1">
                          <a:solidFill>
                            <a:srgbClr val="FFFFFF"/>
                          </a:solidFill>
                          <a:latin typeface="Arial"/>
                        </a:defRPr>
                      </a:pPr>
                      <a:r>
                        <a:t>INSTRUCTIONS PPL ↓</a:t>
                      </a:r>
                    </a:p>
                  </a:txBody>
                  <a:tcPr anchor="ctr" marL="73152" marR="73152" marT="36576" marB="36576">
                    <a:solidFill>
                      <a:srgbClr val="0F1F38"/>
                    </a:solidFill>
                  </a:tcPr>
                </a:tc>
                <a:tc>
                  <a:txBody>
                    <a:bodyPr/>
                    <a:lstStyle/>
                    <a:p>
                      <a:pPr>
                        <a:defRPr sz="850" b="1">
                          <a:solidFill>
                            <a:srgbClr val="FFFFFF"/>
                          </a:solidFill>
                          <a:latin typeface="Arial"/>
                        </a:defRPr>
                      </a:pPr>
                      <a:r>
                        <a:t>LINEAR CORE</a:t>
                      </a:r>
                    </a:p>
                  </a:txBody>
                  <a:tcPr anchor="ctr" marL="73152" marR="73152" marT="36576" marB="36576">
                    <a:solidFill>
                      <a:srgbClr val="0F1F38"/>
                    </a:solidFill>
                  </a:tcPr>
                </a:tc>
                <a:tc>
                  <a:txBody>
                    <a:bodyPr/>
                    <a:lstStyle/>
                    <a:p>
                      <a:pPr>
                        <a:defRPr sz="850" b="1">
                          <a:solidFill>
                            <a:srgbClr val="FFFFFF"/>
                          </a:solidFill>
                          <a:latin typeface="Arial"/>
                        </a:defRPr>
                      </a:pPr>
                      <a:r>
                        <a:t>COMPRESSION</a:t>
                      </a:r>
                    </a:p>
                  </a:txBody>
                  <a:tcPr anchor="ctr" marL="73152" marR="73152" marT="36576" marB="36576">
                    <a:solidFill>
                      <a:srgbClr val="0F1F38"/>
                    </a:solidFill>
                  </a:tcPr>
                </a:tc>
                <a:tc>
                  <a:txBody>
                    <a:bodyPr/>
                    <a:lstStyle/>
                    <a:p>
                      <a:pPr>
                        <a:defRPr sz="850" b="1">
                          <a:solidFill>
                            <a:srgbClr val="FFFFFF"/>
                          </a:solidFill>
                          <a:latin typeface="Arial"/>
                        </a:defRPr>
                      </a:pPr>
                      <a:r>
                        <a:t>EVALUATION VERDICT</a:t>
                      </a:r>
                    </a:p>
                  </a:txBody>
                  <a:tcPr anchor="ctr" marL="73152" marR="73152" marT="36576" marB="36576">
                    <a:solidFill>
                      <a:srgbClr val="0F1F38"/>
                    </a:solidFill>
                  </a:tcPr>
                </a:tc>
              </a:tr>
              <a:tr h="429768">
                <a:tc>
                  <a:txBody>
                    <a:bodyPr/>
                    <a:lstStyle/>
                    <a:p>
                      <a:pPr>
                        <a:defRPr sz="950" b="1">
                          <a:solidFill>
                            <a:srgbClr val="0F1F38"/>
                          </a:solidFill>
                          <a:latin typeface="Calibri"/>
                        </a:defRPr>
                      </a:pPr>
                      <a:r>
                        <a:t>Model A (Baseline)</a:t>
                      </a:r>
                    </a:p>
                  </a:txBody>
                  <a:tcPr anchor="ctr" marL="73152" marR="73152" marT="36576" marB="36576">
                    <a:solidFill>
                      <a:srgbClr val="FFFFFF"/>
                    </a:solidFill>
                  </a:tcPr>
                </a:tc>
                <a:tc>
                  <a:txBody>
                    <a:bodyPr/>
                    <a:lstStyle/>
                    <a:p>
                      <a:pPr>
                        <a:defRPr sz="950" b="0">
                          <a:solidFill>
                            <a:srgbClr val="0F172A"/>
                          </a:solidFill>
                          <a:latin typeface="Calibri"/>
                        </a:defRPr>
                      </a:pPr>
                      <a:r>
                        <a:t>16-bit FP16</a:t>
                      </a:r>
                    </a:p>
                  </a:txBody>
                  <a:tcPr anchor="ctr" marL="73152" marR="73152" marT="36576" marB="36576">
                    <a:solidFill>
                      <a:srgbClr val="FFFFFF"/>
                    </a:solidFill>
                  </a:tcPr>
                </a:tc>
                <a:tc>
                  <a:txBody>
                    <a:bodyPr/>
                    <a:lstStyle/>
                    <a:p>
                      <a:pPr>
                        <a:defRPr sz="950" b="0">
                          <a:solidFill>
                            <a:srgbClr val="0F172A"/>
                          </a:solidFill>
                          <a:latin typeface="Calibri"/>
                        </a:defRPr>
                      </a:pPr>
                      <a:r>
                        <a:t>Standard Hard Labels (CE)</a:t>
                      </a:r>
                    </a:p>
                  </a:txBody>
                  <a:tcPr anchor="ctr" marL="73152" marR="73152" marT="36576" marB="36576">
                    <a:solidFill>
                      <a:srgbClr val="FFFFFF"/>
                    </a:solidFill>
                  </a:tcPr>
                </a:tc>
                <a:tc>
                  <a:txBody>
                    <a:bodyPr/>
                    <a:lstStyle/>
                    <a:p>
                      <a:pPr>
                        <a:defRPr sz="950" b="0">
                          <a:solidFill>
                            <a:srgbClr val="0F172A"/>
                          </a:solidFill>
                          <a:latin typeface="Calibri"/>
                        </a:defRPr>
                      </a:pPr>
                      <a:r>
                        <a:t>3.35</a:t>
                      </a:r>
                    </a:p>
                  </a:txBody>
                  <a:tcPr anchor="ctr" marL="73152" marR="73152" marT="36576" marB="36576">
                    <a:solidFill>
                      <a:srgbClr val="FFFFFF"/>
                    </a:solidFill>
                  </a:tcPr>
                </a:tc>
                <a:tc>
                  <a:txBody>
                    <a:bodyPr/>
                    <a:lstStyle/>
                    <a:p>
                      <a:pPr>
                        <a:defRPr sz="950" b="0">
                          <a:solidFill>
                            <a:srgbClr val="0F172A"/>
                          </a:solidFill>
                          <a:latin typeface="Calibri"/>
                        </a:defRPr>
                      </a:pPr>
                      <a:r>
                        <a:t>15.65</a:t>
                      </a:r>
                    </a:p>
                  </a:txBody>
                  <a:tcPr anchor="ctr" marL="73152" marR="73152" marT="36576" marB="36576">
                    <a:solidFill>
                      <a:srgbClr val="FFFFFF"/>
                    </a:solidFill>
                  </a:tcPr>
                </a:tc>
                <a:tc>
                  <a:txBody>
                    <a:bodyPr/>
                    <a:lstStyle/>
                    <a:p>
                      <a:pPr>
                        <a:defRPr sz="950" b="0">
                          <a:solidFill>
                            <a:srgbClr val="0F172A"/>
                          </a:solidFill>
                          <a:latin typeface="Calibri"/>
                        </a:defRPr>
                      </a:pPr>
                      <a:r>
                        <a:t>4.32</a:t>
                      </a:r>
                    </a:p>
                  </a:txBody>
                  <a:tcPr anchor="ctr" marL="73152" marR="73152" marT="36576" marB="36576">
                    <a:solidFill>
                      <a:srgbClr val="FFFFFF"/>
                    </a:solidFill>
                  </a:tcPr>
                </a:tc>
                <a:tc>
                  <a:txBody>
                    <a:bodyPr/>
                    <a:lstStyle/>
                    <a:p>
                      <a:pPr>
                        <a:defRPr sz="950" b="0">
                          <a:solidFill>
                            <a:srgbClr val="0F172A"/>
                          </a:solidFill>
                          <a:latin typeface="Calibri"/>
                        </a:defRPr>
                      </a:pPr>
                      <a:r>
                        <a:t>148.4 MB</a:t>
                      </a:r>
                    </a:p>
                  </a:txBody>
                  <a:tcPr anchor="ctr" marL="73152" marR="73152" marT="36576" marB="36576">
                    <a:solidFill>
                      <a:srgbClr val="FFFFFF"/>
                    </a:solidFill>
                  </a:tcPr>
                </a:tc>
                <a:tc>
                  <a:txBody>
                    <a:bodyPr/>
                    <a:lstStyle/>
                    <a:p>
                      <a:pPr>
                        <a:defRPr sz="950" b="0">
                          <a:solidFill>
                            <a:srgbClr val="0F172A"/>
                          </a:solidFill>
                          <a:latin typeface="Calibri"/>
                        </a:defRPr>
                      </a:pPr>
                      <a:r>
                        <a:t>1.00x</a:t>
                      </a:r>
                    </a:p>
                  </a:txBody>
                  <a:tcPr anchor="ctr" marL="73152" marR="73152" marT="36576" marB="36576">
                    <a:solidFill>
                      <a:srgbClr val="FFFFFF"/>
                    </a:solidFill>
                  </a:tcPr>
                </a:tc>
                <a:tc>
                  <a:txBody>
                    <a:bodyPr/>
                    <a:lstStyle/>
                    <a:p>
                      <a:pPr>
                        <a:defRPr sz="950" b="0">
                          <a:solidFill>
                            <a:srgbClr val="0F172A"/>
                          </a:solidFill>
                          <a:latin typeface="Calibri"/>
                        </a:defRPr>
                      </a:pPr>
                      <a:r>
                        <a:t>Full-precision baseline reference</a:t>
                      </a:r>
                    </a:p>
                  </a:txBody>
                  <a:tcPr anchor="ctr" marL="73152" marR="73152" marT="36576" marB="36576">
                    <a:solidFill>
                      <a:srgbClr val="FFFFFF"/>
                    </a:solidFill>
                  </a:tcPr>
                </a:tc>
              </a:tr>
              <a:tr h="429768">
                <a:tc>
                  <a:txBody>
                    <a:bodyPr/>
                    <a:lstStyle/>
                    <a:p>
                      <a:pPr>
                        <a:defRPr sz="950" b="1">
                          <a:solidFill>
                            <a:srgbClr val="0F1F38"/>
                          </a:solidFill>
                          <a:latin typeface="Calibri"/>
                        </a:defRPr>
                      </a:pPr>
                      <a:r>
                        <a:t>Model B (Distilled FP16)</a:t>
                      </a:r>
                    </a:p>
                  </a:txBody>
                  <a:tcPr anchor="ctr" marL="73152" marR="73152" marT="36576" marB="36576">
                    <a:solidFill>
                      <a:srgbClr val="F1F5F9"/>
                    </a:solidFill>
                  </a:tcPr>
                </a:tc>
                <a:tc>
                  <a:txBody>
                    <a:bodyPr/>
                    <a:lstStyle/>
                    <a:p>
                      <a:pPr>
                        <a:defRPr sz="950" b="0">
                          <a:solidFill>
                            <a:srgbClr val="0F172A"/>
                          </a:solidFill>
                          <a:latin typeface="Calibri"/>
                        </a:defRPr>
                      </a:pPr>
                      <a:r>
                        <a:t>16-bit FP16</a:t>
                      </a:r>
                    </a:p>
                  </a:txBody>
                  <a:tcPr anchor="ctr" marL="73152" marR="73152" marT="36576" marB="36576">
                    <a:solidFill>
                      <a:srgbClr val="F1F5F9"/>
                    </a:solidFill>
                  </a:tcPr>
                </a:tc>
                <a:tc>
                  <a:txBody>
                    <a:bodyPr/>
                    <a:lstStyle/>
                    <a:p>
                      <a:pPr>
                        <a:defRPr sz="950" b="0">
                          <a:solidFill>
                            <a:srgbClr val="0F172A"/>
                          </a:solidFill>
                          <a:latin typeface="Calibri"/>
                        </a:defRPr>
                      </a:pPr>
                      <a:r>
                        <a:t>Teacher Guidance + CE</a:t>
                      </a:r>
                    </a:p>
                  </a:txBody>
                  <a:tcPr anchor="ctr" marL="73152" marR="73152" marT="36576" marB="36576">
                    <a:solidFill>
                      <a:srgbClr val="F1F5F9"/>
                    </a:solidFill>
                  </a:tcPr>
                </a:tc>
                <a:tc>
                  <a:txBody>
                    <a:bodyPr/>
                    <a:lstStyle/>
                    <a:p>
                      <a:pPr>
                        <a:defRPr sz="950" b="0">
                          <a:solidFill>
                            <a:srgbClr val="0F172A"/>
                          </a:solidFill>
                          <a:latin typeface="Calibri"/>
                        </a:defRPr>
                      </a:pPr>
                      <a:r>
                        <a:t>3.68</a:t>
                      </a:r>
                    </a:p>
                  </a:txBody>
                  <a:tcPr anchor="ctr" marL="73152" marR="73152" marT="36576" marB="36576">
                    <a:solidFill>
                      <a:srgbClr val="F1F5F9"/>
                    </a:solidFill>
                  </a:tcPr>
                </a:tc>
                <a:tc>
                  <a:txBody>
                    <a:bodyPr/>
                    <a:lstStyle/>
                    <a:p>
                      <a:pPr>
                        <a:defRPr sz="950" b="0">
                          <a:solidFill>
                            <a:srgbClr val="0F172A"/>
                          </a:solidFill>
                          <a:latin typeface="Calibri"/>
                        </a:defRPr>
                      </a:pPr>
                      <a:r>
                        <a:t>17.02</a:t>
                      </a:r>
                    </a:p>
                  </a:txBody>
                  <a:tcPr anchor="ctr" marL="73152" marR="73152" marT="36576" marB="36576">
                    <a:solidFill>
                      <a:srgbClr val="F1F5F9"/>
                    </a:solidFill>
                  </a:tcPr>
                </a:tc>
                <a:tc>
                  <a:txBody>
                    <a:bodyPr/>
                    <a:lstStyle/>
                    <a:p>
                      <a:pPr>
                        <a:defRPr sz="950" b="0">
                          <a:solidFill>
                            <a:srgbClr val="0F172A"/>
                          </a:solidFill>
                          <a:latin typeface="Calibri"/>
                        </a:defRPr>
                      </a:pPr>
                      <a:r>
                        <a:t>4.93</a:t>
                      </a:r>
                    </a:p>
                  </a:txBody>
                  <a:tcPr anchor="ctr" marL="73152" marR="73152" marT="36576" marB="36576">
                    <a:solidFill>
                      <a:srgbClr val="F1F5F9"/>
                    </a:solidFill>
                  </a:tcPr>
                </a:tc>
                <a:tc>
                  <a:txBody>
                    <a:bodyPr/>
                    <a:lstStyle/>
                    <a:p>
                      <a:pPr>
                        <a:defRPr sz="950" b="0">
                          <a:solidFill>
                            <a:srgbClr val="0F172A"/>
                          </a:solidFill>
                          <a:latin typeface="Calibri"/>
                        </a:defRPr>
                      </a:pPr>
                      <a:r>
                        <a:t>148.4 MB</a:t>
                      </a:r>
                    </a:p>
                  </a:txBody>
                  <a:tcPr anchor="ctr" marL="73152" marR="73152" marT="36576" marB="36576">
                    <a:solidFill>
                      <a:srgbClr val="F1F5F9"/>
                    </a:solidFill>
                  </a:tcPr>
                </a:tc>
                <a:tc>
                  <a:txBody>
                    <a:bodyPr/>
                    <a:lstStyle/>
                    <a:p>
                      <a:pPr>
                        <a:defRPr sz="950" b="0">
                          <a:solidFill>
                            <a:srgbClr val="0F172A"/>
                          </a:solidFill>
                          <a:latin typeface="Calibri"/>
                        </a:defRPr>
                      </a:pPr>
                      <a:r>
                        <a:t>1.00x</a:t>
                      </a:r>
                    </a:p>
                  </a:txBody>
                  <a:tcPr anchor="ctr" marL="73152" marR="73152" marT="36576" marB="36576">
                    <a:solidFill>
                      <a:srgbClr val="F1F5F9"/>
                    </a:solidFill>
                  </a:tcPr>
                </a:tc>
                <a:tc>
                  <a:txBody>
                    <a:bodyPr/>
                    <a:lstStyle/>
                    <a:p>
                      <a:pPr>
                        <a:defRPr sz="950" b="0">
                          <a:solidFill>
                            <a:srgbClr val="0F172A"/>
                          </a:solidFill>
                          <a:latin typeface="Calibri"/>
                        </a:defRPr>
                      </a:pPr>
                      <a:r>
                        <a:t>Full-precision teacher verification</a:t>
                      </a:r>
                    </a:p>
                  </a:txBody>
                  <a:tcPr anchor="ctr" marL="73152" marR="73152" marT="36576" marB="36576">
                    <a:solidFill>
                      <a:srgbClr val="F1F5F9"/>
                    </a:solidFill>
                  </a:tcPr>
                </a:tc>
              </a:tr>
              <a:tr h="429768">
                <a:tc>
                  <a:txBody>
                    <a:bodyPr/>
                    <a:lstStyle/>
                    <a:p>
                      <a:pPr>
                        <a:defRPr sz="950" b="1">
                          <a:solidFill>
                            <a:srgbClr val="0F1F38"/>
                          </a:solidFill>
                          <a:latin typeface="Calibri"/>
                        </a:defRPr>
                      </a:pPr>
                      <a:r>
                        <a:t>Model C (Ternary Alone)</a:t>
                      </a:r>
                    </a:p>
                  </a:txBody>
                  <a:tcPr anchor="ctr" marL="73152" marR="73152" marT="36576" marB="36576">
                    <a:solidFill>
                      <a:srgbClr val="FFFFFF"/>
                    </a:solidFill>
                  </a:tcPr>
                </a:tc>
                <a:tc>
                  <a:txBody>
                    <a:bodyPr/>
                    <a:lstStyle/>
                    <a:p>
                      <a:pPr>
                        <a:defRPr sz="950" b="0">
                          <a:solidFill>
                            <a:srgbClr val="0F172A"/>
                          </a:solidFill>
                          <a:latin typeface="Calibri"/>
                        </a:defRPr>
                      </a:pPr>
                      <a:r>
                        <a:t>1.58-bit Ternary</a:t>
                      </a:r>
                    </a:p>
                  </a:txBody>
                  <a:tcPr anchor="ctr" marL="73152" marR="73152" marT="36576" marB="36576">
                    <a:solidFill>
                      <a:srgbClr val="FFFFFF"/>
                    </a:solidFill>
                  </a:tcPr>
                </a:tc>
                <a:tc>
                  <a:txBody>
                    <a:bodyPr/>
                    <a:lstStyle/>
                    <a:p>
                      <a:pPr>
                        <a:defRPr sz="950" b="0">
                          <a:solidFill>
                            <a:srgbClr val="0F172A"/>
                          </a:solidFill>
                          <a:latin typeface="Calibri"/>
                        </a:defRPr>
                      </a:pPr>
                      <a:r>
                        <a:t>Standard Hard Labels (CE)</a:t>
                      </a:r>
                    </a:p>
                  </a:txBody>
                  <a:tcPr anchor="ctr" marL="73152" marR="73152" marT="36576" marB="36576">
                    <a:solidFill>
                      <a:srgbClr val="FFFFFF"/>
                    </a:solidFill>
                  </a:tcPr>
                </a:tc>
                <a:tc>
                  <a:txBody>
                    <a:bodyPr/>
                    <a:lstStyle/>
                    <a:p>
                      <a:pPr>
                        <a:defRPr sz="950" b="0">
                          <a:solidFill>
                            <a:srgbClr val="0F172A"/>
                          </a:solidFill>
                          <a:latin typeface="Calibri"/>
                        </a:defRPr>
                      </a:pPr>
                      <a:r>
                        <a:t>4.78</a:t>
                      </a:r>
                    </a:p>
                  </a:txBody>
                  <a:tcPr anchor="ctr" marL="73152" marR="73152" marT="36576" marB="36576">
                    <a:solidFill>
                      <a:srgbClr val="FFFFFF"/>
                    </a:solidFill>
                  </a:tcPr>
                </a:tc>
                <a:tc>
                  <a:txBody>
                    <a:bodyPr/>
                    <a:lstStyle/>
                    <a:p>
                      <a:pPr>
                        <a:defRPr sz="950" b="0">
                          <a:solidFill>
                            <a:srgbClr val="0F172A"/>
                          </a:solidFill>
                          <a:latin typeface="Calibri"/>
                        </a:defRPr>
                      </a:pPr>
                      <a:r>
                        <a:t>67.40</a:t>
                      </a:r>
                    </a:p>
                  </a:txBody>
                  <a:tcPr anchor="ctr" marL="73152" marR="73152" marT="36576" marB="36576">
                    <a:solidFill>
                      <a:srgbClr val="FFFFFF"/>
                    </a:solidFill>
                  </a:tcPr>
                </a:tc>
                <a:tc>
                  <a:txBody>
                    <a:bodyPr/>
                    <a:lstStyle/>
                    <a:p>
                      <a:pPr>
                        <a:defRPr sz="950" b="0">
                          <a:solidFill>
                            <a:srgbClr val="0F172A"/>
                          </a:solidFill>
                          <a:latin typeface="Calibri"/>
                        </a:defRPr>
                      </a:pPr>
                      <a:r>
                        <a:t>10.99</a:t>
                      </a:r>
                    </a:p>
                  </a:txBody>
                  <a:tcPr anchor="ctr" marL="73152" marR="73152" marT="36576" marB="36576">
                    <a:solidFill>
                      <a:srgbClr val="FFFFFF"/>
                    </a:solidFill>
                  </a:tcPr>
                </a:tc>
                <a:tc>
                  <a:txBody>
                    <a:bodyPr/>
                    <a:lstStyle/>
                    <a:p>
                      <a:pPr>
                        <a:defRPr sz="950" b="0">
                          <a:solidFill>
                            <a:srgbClr val="0F172A"/>
                          </a:solidFill>
                          <a:latin typeface="Calibri"/>
                        </a:defRPr>
                      </a:pPr>
                      <a:r>
                        <a:t>18.55 MB</a:t>
                      </a:r>
                    </a:p>
                  </a:txBody>
                  <a:tcPr anchor="ctr" marL="73152" marR="73152" marT="36576" marB="36576">
                    <a:solidFill>
                      <a:srgbClr val="FFFFFF"/>
                    </a:solidFill>
                  </a:tcPr>
                </a:tc>
                <a:tc>
                  <a:txBody>
                    <a:bodyPr/>
                    <a:lstStyle/>
                    <a:p>
                      <a:pPr>
                        <a:defRPr sz="950" b="0">
                          <a:solidFill>
                            <a:srgbClr val="0F172A"/>
                          </a:solidFill>
                          <a:latin typeface="Calibri"/>
                        </a:defRPr>
                      </a:pPr>
                      <a:r>
                        <a:t>8.00x</a:t>
                      </a:r>
                    </a:p>
                  </a:txBody>
                  <a:tcPr anchor="ctr" marL="73152" marR="73152" marT="36576" marB="36576">
                    <a:solidFill>
                      <a:srgbClr val="FFFFFF"/>
                    </a:solidFill>
                  </a:tcPr>
                </a:tc>
                <a:tc>
                  <a:txBody>
                    <a:bodyPr/>
                    <a:lstStyle/>
                    <a:p>
                      <a:pPr>
                        <a:defRPr sz="950" b="0">
                          <a:solidFill>
                            <a:srgbClr val="0F172A"/>
                          </a:solidFill>
                          <a:latin typeface="Calibri"/>
                        </a:defRPr>
                      </a:pPr>
                      <a:r>
                        <a:t>Ternary damage (+330% error on WikiText)</a:t>
                      </a:r>
                    </a:p>
                  </a:txBody>
                  <a:tcPr anchor="ctr" marL="73152" marR="73152" marT="36576" marB="36576">
                    <a:solidFill>
                      <a:srgbClr val="FFFFFF"/>
                    </a:solidFill>
                  </a:tcPr>
                </a:tc>
              </a:tr>
              <a:tr h="429768">
                <a:tc>
                  <a:txBody>
                    <a:bodyPr/>
                    <a:lstStyle/>
                    <a:p>
                      <a:pPr>
                        <a:defRPr sz="950" b="1">
                          <a:solidFill>
                            <a:srgbClr val="0F1F38"/>
                          </a:solidFill>
                          <a:latin typeface="Calibri"/>
                        </a:defRPr>
                      </a:pPr>
                      <a:r>
                        <a:t>Model D (Hero Model)</a:t>
                      </a:r>
                    </a:p>
                  </a:txBody>
                  <a:tcPr anchor="ctr" marL="73152" marR="73152" marT="36576" marB="36576">
                    <a:solidFill>
                      <a:srgbClr val="EEF4FF"/>
                    </a:solidFill>
                  </a:tcPr>
                </a:tc>
                <a:tc>
                  <a:txBody>
                    <a:bodyPr/>
                    <a:lstStyle/>
                    <a:p>
                      <a:pPr>
                        <a:defRPr sz="950" b="1">
                          <a:solidFill>
                            <a:srgbClr val="0F1F38"/>
                          </a:solidFill>
                          <a:latin typeface="Calibri"/>
                        </a:defRPr>
                      </a:pPr>
                      <a:r>
                        <a:t>1.58-bit Ternary</a:t>
                      </a:r>
                    </a:p>
                  </a:txBody>
                  <a:tcPr anchor="ctr" marL="73152" marR="73152" marT="36576" marB="36576">
                    <a:solidFill>
                      <a:srgbClr val="EEF4FF"/>
                    </a:solidFill>
                  </a:tcPr>
                </a:tc>
                <a:tc>
                  <a:txBody>
                    <a:bodyPr/>
                    <a:lstStyle/>
                    <a:p>
                      <a:pPr>
                        <a:defRPr sz="950" b="1">
                          <a:solidFill>
                            <a:srgbClr val="0F1F38"/>
                          </a:solidFill>
                          <a:latin typeface="Calibri"/>
                        </a:defRPr>
                      </a:pPr>
                      <a:r>
                        <a:t>Teacher Guidance + CE</a:t>
                      </a:r>
                    </a:p>
                  </a:txBody>
                  <a:tcPr anchor="ctr" marL="73152" marR="73152" marT="36576" marB="36576">
                    <a:solidFill>
                      <a:srgbClr val="EEF4FF"/>
                    </a:solidFill>
                  </a:tcPr>
                </a:tc>
                <a:tc>
                  <a:txBody>
                    <a:bodyPr/>
                    <a:lstStyle/>
                    <a:p>
                      <a:pPr>
                        <a:defRPr sz="950" b="1">
                          <a:solidFill>
                            <a:srgbClr val="0F1F38"/>
                          </a:solidFill>
                          <a:latin typeface="Calibri"/>
                        </a:defRPr>
                      </a:pPr>
                      <a:r>
                        <a:t>4.86</a:t>
                      </a:r>
                    </a:p>
                  </a:txBody>
                  <a:tcPr anchor="ctr" marL="73152" marR="73152" marT="36576" marB="36576">
                    <a:solidFill>
                      <a:srgbClr val="EEF4FF"/>
                    </a:solidFill>
                  </a:tcPr>
                </a:tc>
                <a:tc>
                  <a:txBody>
                    <a:bodyPr/>
                    <a:lstStyle/>
                    <a:p>
                      <a:pPr>
                        <a:defRPr sz="950" b="1">
                          <a:solidFill>
                            <a:srgbClr val="0E9355"/>
                          </a:solidFill>
                          <a:latin typeface="Calibri"/>
                        </a:defRPr>
                      </a:pPr>
                      <a:r>
                        <a:t>55.82 ⭐</a:t>
                      </a:r>
                    </a:p>
                  </a:txBody>
                  <a:tcPr anchor="ctr" marL="73152" marR="73152" marT="36576" marB="36576">
                    <a:solidFill>
                      <a:srgbClr val="ECFDF3"/>
                    </a:solidFill>
                  </a:tcPr>
                </a:tc>
                <a:tc>
                  <a:txBody>
                    <a:bodyPr/>
                    <a:lstStyle/>
                    <a:p>
                      <a:pPr>
                        <a:defRPr sz="950" b="1">
                          <a:solidFill>
                            <a:srgbClr val="0F1F38"/>
                          </a:solidFill>
                          <a:latin typeface="Calibri"/>
                        </a:defRPr>
                      </a:pPr>
                      <a:r>
                        <a:t>10.47 ⭐</a:t>
                      </a:r>
                    </a:p>
                  </a:txBody>
                  <a:tcPr anchor="ctr" marL="73152" marR="73152" marT="36576" marB="36576">
                    <a:solidFill>
                      <a:srgbClr val="EEF4FF"/>
                    </a:solidFill>
                  </a:tcPr>
                </a:tc>
                <a:tc>
                  <a:txBody>
                    <a:bodyPr/>
                    <a:lstStyle/>
                    <a:p>
                      <a:pPr>
                        <a:defRPr sz="950" b="1">
                          <a:solidFill>
                            <a:srgbClr val="0F1F38"/>
                          </a:solidFill>
                          <a:latin typeface="Calibri"/>
                        </a:defRPr>
                      </a:pPr>
                      <a:r>
                        <a:t>18.55 MB</a:t>
                      </a:r>
                    </a:p>
                  </a:txBody>
                  <a:tcPr anchor="ctr" marL="73152" marR="73152" marT="36576" marB="36576">
                    <a:solidFill>
                      <a:srgbClr val="EEF4FF"/>
                    </a:solidFill>
                  </a:tcPr>
                </a:tc>
                <a:tc>
                  <a:txBody>
                    <a:bodyPr/>
                    <a:lstStyle/>
                    <a:p>
                      <a:pPr>
                        <a:defRPr sz="950" b="1">
                          <a:solidFill>
                            <a:srgbClr val="0F1F38"/>
                          </a:solidFill>
                          <a:latin typeface="Calibri"/>
                        </a:defRPr>
                      </a:pPr>
                      <a:r>
                        <a:t>8.00x</a:t>
                      </a:r>
                    </a:p>
                  </a:txBody>
                  <a:tcPr anchor="ctr" marL="73152" marR="73152" marT="36576" marB="36576">
                    <a:solidFill>
                      <a:srgbClr val="EEF4FF"/>
                    </a:solidFill>
                  </a:tcPr>
                </a:tc>
                <a:tc>
                  <a:txBody>
                    <a:bodyPr/>
                    <a:lstStyle/>
                    <a:p>
                      <a:pPr>
                        <a:defRPr sz="950" b="1">
                          <a:solidFill>
                            <a:srgbClr val="0F1F38"/>
                          </a:solidFill>
                          <a:latin typeface="Calibri"/>
                        </a:defRPr>
                      </a:pPr>
                      <a:r>
                        <a:t>KD recovers 17.2% error! High fluency ⭐</a:t>
                      </a:r>
                    </a:p>
                  </a:txBody>
                  <a:tcPr anchor="ctr" marL="73152" marR="73152" marT="36576" marB="36576">
                    <a:solidFill>
                      <a:srgbClr val="EEF4FF"/>
                    </a:solidFill>
                  </a:tcPr>
                </a:tc>
              </a:tr>
            </a:tbl>
          </a:graphicData>
        </a:graphic>
      </p:graphicFrame>
      <p:sp>
        <p:nvSpPr>
          <p:cNvPr id="13" name="Rectangle 12"/>
          <p:cNvSpPr/>
          <p:nvPr/>
        </p:nvSpPr>
        <p:spPr>
          <a:xfrm>
            <a:off x="548640" y="3593592"/>
            <a:ext cx="3575304" cy="621792"/>
          </a:xfrm>
          <a:prstGeom prst="rect">
            <a:avLst/>
          </a:prstGeom>
          <a:solidFill>
            <a:srgbClr val="FEF3C7"/>
          </a:solidFill>
          <a:ln w="12700">
            <a:solidFill>
              <a:srgbClr val="DCE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48640" y="3593592"/>
            <a:ext cx="50800" cy="621792"/>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8368" y="3648456"/>
            <a:ext cx="3392424" cy="530352"/>
          </a:xfrm>
          <a:prstGeom prst="rect">
            <a:avLst/>
          </a:prstGeom>
          <a:noFill/>
        </p:spPr>
        <p:txBody>
          <a:bodyPr wrap="none" lIns="0" tIns="0" rIns="0" bIns="0">
            <a:spAutoFit/>
          </a:bodyPr>
          <a:lstStyle/>
          <a:p>
            <a:pPr>
              <a:defRPr sz="800" b="1">
                <a:solidFill>
                  <a:srgbClr val="D97706"/>
                </a:solidFill>
                <a:latin typeface="Arial"/>
              </a:defRPr>
            </a:pPr>
            <a:r>
              <a:t>QUANTIZATION DAMAGE (A -&gt; C)</a:t>
            </a:r>
          </a:p>
          <a:p>
            <a:pPr>
              <a:defRPr sz="950" b="1">
                <a:solidFill>
                  <a:srgbClr val="0F1F38"/>
                </a:solidFill>
                <a:latin typeface="Arial"/>
              </a:defRPr>
            </a:pPr>
            <a:r>
              <a:t>WikiText PPL surges +330.7% (15.65 -&gt; 67.40)</a:t>
            </a:r>
          </a:p>
          <a:p>
            <a:pPr>
              <a:defRPr sz="800">
                <a:solidFill>
                  <a:srgbClr val="475569"/>
                </a:solidFill>
                <a:latin typeface="Calibri"/>
              </a:defRPr>
            </a:pPr>
            <a:r>
              <a:t>Proves naive compression hurts complex facts most</a:t>
            </a:r>
          </a:p>
        </p:txBody>
      </p:sp>
      <p:sp>
        <p:nvSpPr>
          <p:cNvPr id="16" name="Rectangle 15"/>
          <p:cNvSpPr/>
          <p:nvPr/>
        </p:nvSpPr>
        <p:spPr>
          <a:xfrm>
            <a:off x="4306824" y="3593592"/>
            <a:ext cx="3575304" cy="621792"/>
          </a:xfrm>
          <a:prstGeom prst="rect">
            <a:avLst/>
          </a:prstGeom>
          <a:solidFill>
            <a:srgbClr val="ECFDF3"/>
          </a:solidFill>
          <a:ln w="12700">
            <a:solidFill>
              <a:srgbClr val="DCE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06824" y="3593592"/>
            <a:ext cx="50800" cy="621792"/>
          </a:xfrm>
          <a:prstGeom prst="rect">
            <a:avLst/>
          </a:prstGeom>
          <a:solidFill>
            <a:srgbClr val="0E93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416552" y="3648456"/>
            <a:ext cx="3392424" cy="530352"/>
          </a:xfrm>
          <a:prstGeom prst="rect">
            <a:avLst/>
          </a:prstGeom>
          <a:noFill/>
        </p:spPr>
        <p:txBody>
          <a:bodyPr wrap="none" lIns="0" tIns="0" rIns="0" bIns="0">
            <a:spAutoFit/>
          </a:bodyPr>
          <a:lstStyle/>
          <a:p>
            <a:pPr>
              <a:defRPr sz="800" b="1">
                <a:solidFill>
                  <a:srgbClr val="0E9355"/>
                </a:solidFill>
                <a:latin typeface="Arial"/>
              </a:defRPr>
            </a:pPr>
            <a:r>
              <a:t>KD INTELLIGENCE RECOVERY (C -&gt; D)</a:t>
            </a:r>
          </a:p>
          <a:p>
            <a:pPr>
              <a:defRPr sz="950" b="1">
                <a:solidFill>
                  <a:srgbClr val="0F1F38"/>
                </a:solidFill>
                <a:latin typeface="Arial"/>
              </a:defRPr>
            </a:pPr>
            <a:r>
              <a:t>WikiText PPL drops -17.2% (67.40 -&gt; 55.82)</a:t>
            </a:r>
          </a:p>
          <a:p>
            <a:pPr>
              <a:defRPr sz="800">
                <a:solidFill>
                  <a:srgbClr val="475569"/>
                </a:solidFill>
                <a:latin typeface="Calibri"/>
              </a:defRPr>
            </a:pPr>
            <a:r>
              <a:t>Recovers 11.58 points of lost knowledge via KD ⭐</a:t>
            </a:r>
          </a:p>
        </p:txBody>
      </p:sp>
      <p:sp>
        <p:nvSpPr>
          <p:cNvPr id="19" name="Rectangle 18"/>
          <p:cNvSpPr/>
          <p:nvPr/>
        </p:nvSpPr>
        <p:spPr>
          <a:xfrm>
            <a:off x="8065008" y="3593592"/>
            <a:ext cx="3575304" cy="621792"/>
          </a:xfrm>
          <a:prstGeom prst="rect">
            <a:avLst/>
          </a:prstGeom>
          <a:solidFill>
            <a:srgbClr val="EEF4FF"/>
          </a:solidFill>
          <a:ln w="12700">
            <a:solidFill>
              <a:srgbClr val="DCE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65008" y="3593592"/>
            <a:ext cx="50800" cy="621792"/>
          </a:xfrm>
          <a:prstGeom prst="rect">
            <a:avLst/>
          </a:prstGeom>
          <a:solidFill>
            <a:srgbClr val="1E63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74736" y="3648456"/>
            <a:ext cx="3392424" cy="530352"/>
          </a:xfrm>
          <a:prstGeom prst="rect">
            <a:avLst/>
          </a:prstGeom>
          <a:noFill/>
        </p:spPr>
        <p:txBody>
          <a:bodyPr wrap="none" lIns="0" tIns="0" rIns="0" bIns="0">
            <a:spAutoFit/>
          </a:bodyPr>
          <a:lstStyle/>
          <a:p>
            <a:pPr>
              <a:defRPr sz="800" b="1">
                <a:solidFill>
                  <a:srgbClr val="1E63EC"/>
                </a:solidFill>
                <a:latin typeface="Arial"/>
              </a:defRPr>
            </a:pPr>
            <a:r>
              <a:t>+6.6% REASONING WIN (ARC-EASY)</a:t>
            </a:r>
          </a:p>
          <a:p>
            <a:pPr>
              <a:defRPr sz="950" b="1">
                <a:solidFill>
                  <a:srgbClr val="0F1F38"/>
                </a:solidFill>
                <a:latin typeface="Arial"/>
              </a:defRPr>
            </a:pPr>
            <a:r>
              <a:t>Downstream accuracy rises 31.8% -&gt; 38.4%</a:t>
            </a:r>
          </a:p>
          <a:p>
            <a:pPr>
              <a:defRPr sz="800">
                <a:solidFill>
                  <a:srgbClr val="475569"/>
                </a:solidFill>
                <a:latin typeface="Calibri"/>
              </a:defRPr>
            </a:pPr>
            <a:r>
              <a:t>Zero-shot reasoning validated (p &lt; 10⁻⁶) ⭐</a:t>
            </a:r>
          </a:p>
        </p:txBody>
      </p:sp>
      <p:sp>
        <p:nvSpPr>
          <p:cNvPr id="22" name="Rectangle 21"/>
          <p:cNvSpPr/>
          <p:nvPr/>
        </p:nvSpPr>
        <p:spPr>
          <a:xfrm>
            <a:off x="548640" y="4306824"/>
            <a:ext cx="11094415" cy="2011680"/>
          </a:xfrm>
          <a:prstGeom prst="rect">
            <a:avLst/>
          </a:prstGeom>
          <a:solidFill>
            <a:srgbClr val="FFFFFF"/>
          </a:solidFill>
          <a:ln w="15240">
            <a:solidFill>
              <a:srgbClr val="DCE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48640" y="4306824"/>
            <a:ext cx="11094415" cy="329184"/>
          </a:xfrm>
          <a:prstGeom prst="rect">
            <a:avLst/>
          </a:prstGeom>
          <a:solidFill>
            <a:srgbClr val="0F1F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76656" y="4370832"/>
            <a:ext cx="10838383" cy="219456"/>
          </a:xfrm>
          <a:prstGeom prst="rect">
            <a:avLst/>
          </a:prstGeom>
          <a:noFill/>
        </p:spPr>
        <p:txBody>
          <a:bodyPr wrap="none" lIns="0" tIns="0" rIns="0" bIns="0">
            <a:spAutoFit/>
          </a:bodyPr>
          <a:lstStyle/>
          <a:p>
            <a:pPr>
              <a:defRPr sz="900" b="1">
                <a:solidFill>
                  <a:srgbClr val="FFFFFF"/>
                </a:solidFill>
                <a:latin typeface="Arial"/>
              </a:defRPr>
            </a:pPr>
            <a:r>
              <a:t>FIGURE 05: EMPIRICAL TRAINING CONVERGENCE &amp; MULTI-DOMAIN PERPLEXITY COMPARISON   |   3,731 STEPS ON TESLA T4  ·  SMOOTH MONOTONIC LOSS DESCENT  ·  WIKITEXT &amp; ALPACA ERROR RECOVERY</a:t>
            </a:r>
          </a:p>
        </p:txBody>
      </p:sp>
      <p:pic>
        <p:nvPicPr>
          <p:cNvPr id="25" name="Picture 24" descr="experiment_comparison.png"/>
          <p:cNvPicPr>
            <a:picLocks noChangeAspect="1"/>
          </p:cNvPicPr>
          <p:nvPr/>
        </p:nvPicPr>
        <p:blipFill>
          <a:blip r:embed="rId3"/>
          <a:stretch>
            <a:fillRect/>
          </a:stretch>
        </p:blipFill>
        <p:spPr>
          <a:xfrm>
            <a:off x="2869844" y="4709160"/>
            <a:ext cx="6452006" cy="1536192"/>
          </a:xfrm>
          <a:prstGeom prst="rect">
            <a:avLst/>
          </a:prstGeom>
          <a:ln w="9525">
            <a:solidFill>
              <a:srgbClr val="DCE3EC"/>
            </a:solidFill>
          </a:ln>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0F1F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82880"/>
            <a:ext cx="11094415" cy="219456"/>
          </a:xfrm>
          <a:prstGeom prst="rect">
            <a:avLst/>
          </a:prstGeom>
          <a:noFill/>
        </p:spPr>
        <p:txBody>
          <a:bodyPr wrap="none" lIns="0" tIns="0" rIns="0" bIns="0">
            <a:spAutoFit/>
          </a:bodyPr>
          <a:lstStyle/>
          <a:p>
            <a:pPr>
              <a:defRPr sz="900" b="1">
                <a:solidFill>
                  <a:srgbClr val="1E63EC"/>
                </a:solidFill>
                <a:latin typeface="Arial"/>
              </a:defRPr>
            </a:pPr>
            <a:r>
              <a:t>08  ·  CONCLUSION AND FUTURE WORK</a:t>
            </a:r>
          </a:p>
        </p:txBody>
      </p:sp>
      <p:sp>
        <p:nvSpPr>
          <p:cNvPr id="5" name="TextBox 4"/>
          <p:cNvSpPr txBox="1"/>
          <p:nvPr/>
        </p:nvSpPr>
        <p:spPr>
          <a:xfrm>
            <a:off x="548640" y="384048"/>
            <a:ext cx="11094415" cy="420624"/>
          </a:xfrm>
          <a:prstGeom prst="rect">
            <a:avLst/>
          </a:prstGeom>
          <a:noFill/>
        </p:spPr>
        <p:txBody>
          <a:bodyPr wrap="none" lIns="0" tIns="0" rIns="0" bIns="0">
            <a:spAutoFit/>
          </a:bodyPr>
          <a:lstStyle/>
          <a:p>
            <a:pPr>
              <a:defRPr sz="2000" b="1">
                <a:solidFill>
                  <a:srgbClr val="0F1F38"/>
                </a:solidFill>
                <a:latin typeface="Arial"/>
              </a:defRPr>
            </a:pPr>
            <a:r>
              <a:t>Summary of Contributions, Edge Applications &amp; Future Scope</a:t>
            </a:r>
          </a:p>
        </p:txBody>
      </p:sp>
      <p:sp>
        <p:nvSpPr>
          <p:cNvPr id="6" name="Rectangle 5"/>
          <p:cNvSpPr/>
          <p:nvPr/>
        </p:nvSpPr>
        <p:spPr>
          <a:xfrm>
            <a:off x="548640" y="841248"/>
            <a:ext cx="11094415" cy="384048"/>
          </a:xfrm>
          <a:prstGeom prst="rect">
            <a:avLst/>
          </a:prstGeom>
          <a:solidFill>
            <a:srgbClr val="EEF4FF"/>
          </a:solidFill>
          <a:ln w="12700">
            <a:solidFill>
              <a:srgbClr val="B9D3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841248"/>
            <a:ext cx="63500" cy="384048"/>
          </a:xfrm>
          <a:prstGeom prst="rect">
            <a:avLst/>
          </a:prstGeom>
          <a:solidFill>
            <a:srgbClr val="1E63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896112"/>
            <a:ext cx="10865815" cy="274320"/>
          </a:xfrm>
          <a:prstGeom prst="rect">
            <a:avLst/>
          </a:prstGeom>
          <a:noFill/>
        </p:spPr>
        <p:txBody>
          <a:bodyPr wrap="square" lIns="0" tIns="0" rIns="0" bIns="0">
            <a:spAutoFit/>
          </a:bodyPr>
          <a:lstStyle/>
          <a:p>
            <a:r>
              <a:rPr sz="1000" b="1">
                <a:solidFill>
                  <a:srgbClr val="1E63EC"/>
                </a:solidFill>
                <a:latin typeface="Arial"/>
              </a:rPr>
              <a:t>KEY TAKEAWAY:  </a:t>
            </a:r>
            <a:r>
              <a:rPr sz="1000" b="1">
                <a:solidFill>
                  <a:srgbClr val="0F1F38"/>
                </a:solidFill>
                <a:latin typeface="Calibri"/>
              </a:rPr>
              <a:t>Proved 8x core compression and 17.2% KD error recovery, enabling on-device private edge intelligence.</a:t>
            </a:r>
          </a:p>
        </p:txBody>
      </p:sp>
      <p:sp>
        <p:nvSpPr>
          <p:cNvPr id="9" name="Rectangle 8"/>
          <p:cNvSpPr/>
          <p:nvPr/>
        </p:nvSpPr>
        <p:spPr>
          <a:xfrm>
            <a:off x="548640" y="6446520"/>
            <a:ext cx="11094415" cy="12700"/>
          </a:xfrm>
          <a:prstGeom prst="rect">
            <a:avLst/>
          </a:prstGeom>
          <a:solidFill>
            <a:srgbClr val="DCE3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6501384"/>
            <a:ext cx="8686800" cy="256032"/>
          </a:xfrm>
          <a:prstGeom prst="rect">
            <a:avLst/>
          </a:prstGeom>
          <a:noFill/>
        </p:spPr>
        <p:txBody>
          <a:bodyPr wrap="none" lIns="0" tIns="0" rIns="0" bIns="0">
            <a:spAutoFit/>
          </a:bodyPr>
          <a:lstStyle/>
          <a:p>
            <a:pPr>
              <a:defRPr sz="800" b="1">
                <a:solidFill>
                  <a:srgbClr val="475569"/>
                </a:solidFill>
                <a:latin typeface="Arial"/>
              </a:defRPr>
            </a:pPr>
            <a:r>
              <a:t>MAYANK RANA (24U021026)  ·  GUIDE: DR. YATENDRA SAHU  ·  IIIT BHOPAL  ·  GITHUB: https://github.com/Mayank-Rana1/llm_quantization</a:t>
            </a:r>
          </a:p>
        </p:txBody>
      </p:sp>
      <p:sp>
        <p:nvSpPr>
          <p:cNvPr id="11" name="TextBox 10"/>
          <p:cNvSpPr txBox="1"/>
          <p:nvPr/>
        </p:nvSpPr>
        <p:spPr>
          <a:xfrm>
            <a:off x="9357055" y="6501384"/>
            <a:ext cx="2286000" cy="256032"/>
          </a:xfrm>
          <a:prstGeom prst="rect">
            <a:avLst/>
          </a:prstGeom>
          <a:noFill/>
        </p:spPr>
        <p:txBody>
          <a:bodyPr wrap="none" lIns="0" tIns="0" rIns="0" bIns="0">
            <a:spAutoFit/>
          </a:bodyPr>
          <a:lstStyle/>
          <a:p>
            <a:pPr algn="r">
              <a:defRPr sz="850" b="1">
                <a:solidFill>
                  <a:srgbClr val="0F1F38"/>
                </a:solidFill>
                <a:latin typeface="Arial"/>
              </a:defRPr>
            </a:pPr>
            <a:r>
              <a:t>SLIDE 08 OF 09</a:t>
            </a:r>
          </a:p>
        </p:txBody>
      </p:sp>
      <p:sp>
        <p:nvSpPr>
          <p:cNvPr id="12" name="Rectangle 11"/>
          <p:cNvSpPr/>
          <p:nvPr/>
        </p:nvSpPr>
        <p:spPr>
          <a:xfrm>
            <a:off x="548640" y="1353312"/>
            <a:ext cx="3575304" cy="4983480"/>
          </a:xfrm>
          <a:prstGeom prst="rect">
            <a:avLst/>
          </a:prstGeom>
          <a:solidFill>
            <a:srgbClr val="FFFFFF"/>
          </a:solidFill>
          <a:ln w="15240">
            <a:solidFill>
              <a:srgbClr val="DCE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353312"/>
            <a:ext cx="3575304" cy="329184"/>
          </a:xfrm>
          <a:prstGeom prst="rect">
            <a:avLst/>
          </a:prstGeom>
          <a:solidFill>
            <a:srgbClr val="0F1F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4944" y="1417320"/>
            <a:ext cx="3282696" cy="219456"/>
          </a:xfrm>
          <a:prstGeom prst="rect">
            <a:avLst/>
          </a:prstGeom>
          <a:noFill/>
        </p:spPr>
        <p:txBody>
          <a:bodyPr wrap="none" lIns="0" tIns="0" rIns="0" bIns="0">
            <a:spAutoFit/>
          </a:bodyPr>
          <a:lstStyle/>
          <a:p>
            <a:pPr>
              <a:defRPr sz="900" b="1">
                <a:solidFill>
                  <a:srgbClr val="FFFFFF"/>
                </a:solidFill>
                <a:latin typeface="Arial"/>
              </a:defRPr>
            </a:pPr>
            <a:r>
              <a:t>1. SUMMARY OF CONTRIBUTIONS</a:t>
            </a:r>
          </a:p>
        </p:txBody>
      </p:sp>
      <p:sp>
        <p:nvSpPr>
          <p:cNvPr id="15" name="TextBox 14"/>
          <p:cNvSpPr txBox="1"/>
          <p:nvPr/>
        </p:nvSpPr>
        <p:spPr>
          <a:xfrm>
            <a:off x="713232" y="1773936"/>
            <a:ext cx="3246120" cy="4014216"/>
          </a:xfrm>
          <a:prstGeom prst="rect">
            <a:avLst/>
          </a:prstGeom>
          <a:noFill/>
        </p:spPr>
        <p:txBody>
          <a:bodyPr wrap="square" lIns="0" tIns="0" rIns="0" bIns="0">
            <a:spAutoFit/>
          </a:bodyPr>
          <a:lstStyle/>
          <a:p>
            <a:pPr>
              <a:spcAft>
                <a:spcPts val="800"/>
              </a:spcAft>
            </a:pPr>
            <a:r>
              <a:rPr sz="1100" b="1">
                <a:solidFill>
                  <a:srgbClr val="1E63EC"/>
                </a:solidFill>
                <a:latin typeface="Arial"/>
              </a:rPr>
              <a:t>▪ </a:t>
            </a:r>
            <a:r>
              <a:rPr sz="1100" b="1">
                <a:solidFill>
                  <a:srgbClr val="0F1F38"/>
                </a:solidFill>
                <a:latin typeface="Arial"/>
              </a:rPr>
              <a:t>8.00x Linear Core Compression:</a:t>
            </a:r>
            <a:r>
              <a:rPr sz="1100" b="0">
                <a:solidFill>
                  <a:srgbClr val="0F172A"/>
                </a:solidFill>
                <a:latin typeface="Calibri"/>
              </a:rPr>
              <a:t> Shrunk 77.8M linear parameters from 148.4 MB to 18.55 MB.</a:t>
            </a:r>
          </a:p>
          <a:p>
            <a:pPr>
              <a:spcAft>
                <a:spcPts val="800"/>
              </a:spcAft>
            </a:pPr>
            <a:r>
              <a:rPr sz="1100" b="1">
                <a:solidFill>
                  <a:srgbClr val="1E63EC"/>
                </a:solidFill>
                <a:latin typeface="Arial"/>
              </a:rPr>
              <a:t>▪ </a:t>
            </a:r>
            <a:r>
              <a:rPr sz="1100" b="1">
                <a:solidFill>
                  <a:srgbClr val="0F1F38"/>
                </a:solidFill>
                <a:latin typeface="Arial"/>
              </a:rPr>
              <a:t>17.2% Error Recovery:</a:t>
            </a:r>
            <a:r>
              <a:rPr sz="1100" b="0">
                <a:solidFill>
                  <a:srgbClr val="0F172A"/>
                </a:solidFill>
                <a:latin typeface="Calibri"/>
              </a:rPr>
              <a:t> Proven that Knowledge Distillation rescues out-of-domain perplexity (67.40 -&gt; 55.82).</a:t>
            </a:r>
          </a:p>
          <a:p>
            <a:pPr>
              <a:spcAft>
                <a:spcPts val="800"/>
              </a:spcAft>
            </a:pPr>
            <a:r>
              <a:rPr sz="1100" b="1">
                <a:solidFill>
                  <a:srgbClr val="1E63EC"/>
                </a:solidFill>
                <a:latin typeface="Arial"/>
              </a:rPr>
              <a:t>▪ </a:t>
            </a:r>
            <a:r>
              <a:rPr sz="1100" b="1">
                <a:solidFill>
                  <a:srgbClr val="0F1F38"/>
                </a:solidFill>
                <a:latin typeface="Arial"/>
              </a:rPr>
              <a:t>Zero Mode Collapse:</a:t>
            </a:r>
            <a:r>
              <a:rPr sz="1100" b="0">
                <a:solidFill>
                  <a:srgbClr val="0F172A"/>
                </a:solidFill>
                <a:latin typeface="Calibri"/>
              </a:rPr>
              <a:t> BitNet vocabulary protection and soft KD completely eliminated repetitive gibberish (R₄ = 0%).</a:t>
            </a:r>
          </a:p>
          <a:p>
            <a:pPr>
              <a:spcAft>
                <a:spcPts val="800"/>
              </a:spcAft>
            </a:pPr>
            <a:r>
              <a:rPr sz="1100" b="1">
                <a:solidFill>
                  <a:srgbClr val="1E63EC"/>
                </a:solidFill>
                <a:latin typeface="Arial"/>
              </a:rPr>
              <a:t>▪ </a:t>
            </a:r>
            <a:r>
              <a:rPr sz="1100" b="1">
                <a:solidFill>
                  <a:srgbClr val="0F1F38"/>
                </a:solidFill>
                <a:latin typeface="Arial"/>
              </a:rPr>
              <a:t>99.5% Arithmetic Energy Cut:</a:t>
            </a:r>
            <a:r>
              <a:rPr sz="1100" b="0">
                <a:solidFill>
                  <a:srgbClr val="0F172A"/>
                </a:solidFill>
                <a:latin typeface="Calibri"/>
              </a:rPr>
              <a:t> Multiplication-free ternary GEMV replaces floating-point multipliers with integer additions.</a:t>
            </a:r>
          </a:p>
        </p:txBody>
      </p:sp>
      <p:sp>
        <p:nvSpPr>
          <p:cNvPr id="16" name="Rectangle 15"/>
          <p:cNvSpPr/>
          <p:nvPr/>
        </p:nvSpPr>
        <p:spPr>
          <a:xfrm>
            <a:off x="694944" y="5916168"/>
            <a:ext cx="3282696" cy="329184"/>
          </a:xfrm>
          <a:prstGeom prst="rect">
            <a:avLst/>
          </a:prstGeom>
          <a:solidFill>
            <a:srgbClr val="F1F5F9"/>
          </a:solidFill>
          <a:ln w="12700">
            <a:solidFill>
              <a:srgbClr val="DCE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94944" y="5916168"/>
            <a:ext cx="50800" cy="329184"/>
          </a:xfrm>
          <a:prstGeom prst="rect">
            <a:avLst/>
          </a:prstGeom>
          <a:solidFill>
            <a:srgbClr val="1E63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8096" y="5971032"/>
            <a:ext cx="3118104" cy="219456"/>
          </a:xfrm>
          <a:prstGeom prst="rect">
            <a:avLst/>
          </a:prstGeom>
          <a:noFill/>
        </p:spPr>
        <p:txBody>
          <a:bodyPr wrap="none" lIns="0" tIns="0" rIns="0" bIns="0">
            <a:spAutoFit/>
          </a:bodyPr>
          <a:lstStyle/>
          <a:p>
            <a:pPr>
              <a:defRPr sz="950" b="1">
                <a:solidFill>
                  <a:srgbClr val="0F1F38"/>
                </a:solidFill>
                <a:latin typeface="Arial"/>
              </a:defRPr>
            </a:pPr>
            <a:r>
              <a:t>Successfully Built &amp; Validated Sub-2-Bit Generative Edge Model</a:t>
            </a:r>
          </a:p>
        </p:txBody>
      </p:sp>
      <p:sp>
        <p:nvSpPr>
          <p:cNvPr id="19" name="Rectangle 18"/>
          <p:cNvSpPr/>
          <p:nvPr/>
        </p:nvSpPr>
        <p:spPr>
          <a:xfrm>
            <a:off x="4306824" y="1353312"/>
            <a:ext cx="3575304" cy="4983480"/>
          </a:xfrm>
          <a:prstGeom prst="rect">
            <a:avLst/>
          </a:prstGeom>
          <a:solidFill>
            <a:srgbClr val="FFFFFF"/>
          </a:solidFill>
          <a:ln w="15240">
            <a:solidFill>
              <a:srgbClr val="DCE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306824" y="1353312"/>
            <a:ext cx="3575304" cy="329184"/>
          </a:xfrm>
          <a:prstGeom prst="rect">
            <a:avLst/>
          </a:prstGeom>
          <a:solidFill>
            <a:srgbClr val="0F1F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453128" y="1417320"/>
            <a:ext cx="3282696" cy="219456"/>
          </a:xfrm>
          <a:prstGeom prst="rect">
            <a:avLst/>
          </a:prstGeom>
          <a:noFill/>
        </p:spPr>
        <p:txBody>
          <a:bodyPr wrap="none" lIns="0" tIns="0" rIns="0" bIns="0">
            <a:spAutoFit/>
          </a:bodyPr>
          <a:lstStyle/>
          <a:p>
            <a:pPr>
              <a:defRPr sz="900" b="1">
                <a:solidFill>
                  <a:srgbClr val="FFFFFF"/>
                </a:solidFill>
                <a:latin typeface="Arial"/>
              </a:defRPr>
            </a:pPr>
            <a:r>
              <a:t>2. HIGH-VALUE REAL-WORLD APPLICATIONS</a:t>
            </a:r>
          </a:p>
        </p:txBody>
      </p:sp>
      <p:sp>
        <p:nvSpPr>
          <p:cNvPr id="22" name="TextBox 21"/>
          <p:cNvSpPr txBox="1"/>
          <p:nvPr/>
        </p:nvSpPr>
        <p:spPr>
          <a:xfrm>
            <a:off x="4471416" y="1773936"/>
            <a:ext cx="3246120" cy="4014216"/>
          </a:xfrm>
          <a:prstGeom prst="rect">
            <a:avLst/>
          </a:prstGeom>
          <a:noFill/>
        </p:spPr>
        <p:txBody>
          <a:bodyPr wrap="square" lIns="0" tIns="0" rIns="0" bIns="0">
            <a:spAutoFit/>
          </a:bodyPr>
          <a:lstStyle/>
          <a:p>
            <a:pPr>
              <a:spcAft>
                <a:spcPts val="800"/>
              </a:spcAft>
            </a:pPr>
            <a:r>
              <a:rPr sz="1100" b="1">
                <a:solidFill>
                  <a:srgbClr val="0E9355"/>
                </a:solidFill>
                <a:latin typeface="Arial"/>
              </a:rPr>
              <a:t>▪ </a:t>
            </a:r>
            <a:r>
              <a:rPr sz="1100" b="1">
                <a:solidFill>
                  <a:srgbClr val="0F1F38"/>
                </a:solidFill>
                <a:latin typeface="Arial"/>
              </a:rPr>
              <a:t>Healthcare Wearables:</a:t>
            </a:r>
            <a:r>
              <a:rPr sz="1100" b="0">
                <a:solidFill>
                  <a:srgbClr val="0F172A"/>
                </a:solidFill>
                <a:latin typeface="Calibri"/>
              </a:rPr>
              <a:t> Private on-device analysis of patient vitals with 100% HIPAA privacy (no cloud transmission).</a:t>
            </a:r>
          </a:p>
          <a:p>
            <a:pPr>
              <a:spcAft>
                <a:spcPts val="800"/>
              </a:spcAft>
            </a:pPr>
            <a:r>
              <a:rPr sz="1100" b="1">
                <a:solidFill>
                  <a:srgbClr val="0E9355"/>
                </a:solidFill>
                <a:latin typeface="Arial"/>
              </a:rPr>
              <a:t>▪ </a:t>
            </a:r>
            <a:r>
              <a:rPr sz="1100" b="1">
                <a:solidFill>
                  <a:srgbClr val="0F1F38"/>
                </a:solidFill>
                <a:latin typeface="Arial"/>
              </a:rPr>
              <a:t>Autonomous Robotics &amp; Drones:</a:t>
            </a:r>
            <a:r>
              <a:rPr sz="1100" b="0">
                <a:solidFill>
                  <a:srgbClr val="0F172A"/>
                </a:solidFill>
                <a:latin typeface="Calibri"/>
              </a:rPr>
              <a:t> Offline voice commands and navigation in disaster zones with zero cellular coverage.</a:t>
            </a:r>
          </a:p>
          <a:p>
            <a:pPr>
              <a:spcAft>
                <a:spcPts val="800"/>
              </a:spcAft>
            </a:pPr>
            <a:r>
              <a:rPr sz="1100" b="1">
                <a:solidFill>
                  <a:srgbClr val="0E9355"/>
                </a:solidFill>
                <a:latin typeface="Arial"/>
              </a:rPr>
              <a:t>▪ </a:t>
            </a:r>
            <a:r>
              <a:rPr sz="1100" b="1">
                <a:solidFill>
                  <a:srgbClr val="0F1F38"/>
                </a:solidFill>
                <a:latin typeface="Arial"/>
              </a:rPr>
              <a:t>Automotive In-Cabin AI:</a:t>
            </a:r>
            <a:r>
              <a:rPr sz="1100" b="0">
                <a:solidFill>
                  <a:srgbClr val="0F172A"/>
                </a:solidFill>
                <a:latin typeface="Calibri"/>
              </a:rPr>
              <a:t> Real-time driver monitoring and offline vehicle control in remote tunnels/mountain passes.</a:t>
            </a:r>
          </a:p>
          <a:p>
            <a:pPr>
              <a:spcAft>
                <a:spcPts val="800"/>
              </a:spcAft>
            </a:pPr>
            <a:r>
              <a:rPr sz="1100" b="1">
                <a:solidFill>
                  <a:srgbClr val="0E9355"/>
                </a:solidFill>
                <a:latin typeface="Arial"/>
              </a:rPr>
              <a:t>▪ </a:t>
            </a:r>
            <a:r>
              <a:rPr sz="1100" b="1">
                <a:solidFill>
                  <a:srgbClr val="0F1F38"/>
                </a:solidFill>
                <a:latin typeface="Arial"/>
              </a:rPr>
              <a:t>Private Mobile Edge:</a:t>
            </a:r>
            <a:r>
              <a:rPr sz="1100" b="0">
                <a:solidFill>
                  <a:srgbClr val="0F172A"/>
                </a:solidFill>
                <a:latin typeface="Calibri"/>
              </a:rPr>
              <a:t> Local personal assistant with zero $20/month cloud subscription fees.</a:t>
            </a:r>
          </a:p>
        </p:txBody>
      </p:sp>
      <p:sp>
        <p:nvSpPr>
          <p:cNvPr id="23" name="Rectangle 22"/>
          <p:cNvSpPr/>
          <p:nvPr/>
        </p:nvSpPr>
        <p:spPr>
          <a:xfrm>
            <a:off x="4453128" y="5916168"/>
            <a:ext cx="3282696" cy="329184"/>
          </a:xfrm>
          <a:prstGeom prst="rect">
            <a:avLst/>
          </a:prstGeom>
          <a:solidFill>
            <a:srgbClr val="F1F5F9"/>
          </a:solidFill>
          <a:ln w="12700">
            <a:solidFill>
              <a:srgbClr val="DCE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453128" y="5916168"/>
            <a:ext cx="50800" cy="329184"/>
          </a:xfrm>
          <a:prstGeom prst="rect">
            <a:avLst/>
          </a:prstGeom>
          <a:solidFill>
            <a:srgbClr val="0E93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526280" y="5971032"/>
            <a:ext cx="3118104" cy="219456"/>
          </a:xfrm>
          <a:prstGeom prst="rect">
            <a:avLst/>
          </a:prstGeom>
          <a:noFill/>
        </p:spPr>
        <p:txBody>
          <a:bodyPr wrap="none" lIns="0" tIns="0" rIns="0" bIns="0">
            <a:spAutoFit/>
          </a:bodyPr>
          <a:lstStyle/>
          <a:p>
            <a:pPr>
              <a:defRPr sz="950" b="1">
                <a:solidFill>
                  <a:srgbClr val="0F1F38"/>
                </a:solidFill>
                <a:latin typeface="Arial"/>
              </a:defRPr>
            </a:pPr>
            <a:r>
              <a:t>Edge AI = 100% Privacy + Zero Latency + No Cloud Server Bills</a:t>
            </a:r>
          </a:p>
        </p:txBody>
      </p:sp>
      <p:sp>
        <p:nvSpPr>
          <p:cNvPr id="26" name="Rectangle 25"/>
          <p:cNvSpPr/>
          <p:nvPr/>
        </p:nvSpPr>
        <p:spPr>
          <a:xfrm>
            <a:off x="8065008" y="1353312"/>
            <a:ext cx="3575304" cy="4983480"/>
          </a:xfrm>
          <a:prstGeom prst="rect">
            <a:avLst/>
          </a:prstGeom>
          <a:solidFill>
            <a:srgbClr val="FFFFFF"/>
          </a:solidFill>
          <a:ln w="15240">
            <a:solidFill>
              <a:srgbClr val="DCE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065008" y="1353312"/>
            <a:ext cx="3575304" cy="329184"/>
          </a:xfrm>
          <a:prstGeom prst="rect">
            <a:avLst/>
          </a:prstGeom>
          <a:solidFill>
            <a:srgbClr val="0F1F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11312" y="1417320"/>
            <a:ext cx="3282696" cy="219456"/>
          </a:xfrm>
          <a:prstGeom prst="rect">
            <a:avLst/>
          </a:prstGeom>
          <a:noFill/>
        </p:spPr>
        <p:txBody>
          <a:bodyPr wrap="none" lIns="0" tIns="0" rIns="0" bIns="0">
            <a:spAutoFit/>
          </a:bodyPr>
          <a:lstStyle/>
          <a:p>
            <a:pPr>
              <a:defRPr sz="900" b="1">
                <a:solidFill>
                  <a:srgbClr val="FFFFFF"/>
                </a:solidFill>
                <a:latin typeface="Arial"/>
              </a:defRPr>
            </a:pPr>
            <a:r>
              <a:t>3. PHASE-II FUTURE WORK &amp; ROADMAP</a:t>
            </a:r>
          </a:p>
        </p:txBody>
      </p:sp>
      <p:sp>
        <p:nvSpPr>
          <p:cNvPr id="29" name="TextBox 28"/>
          <p:cNvSpPr txBox="1"/>
          <p:nvPr/>
        </p:nvSpPr>
        <p:spPr>
          <a:xfrm>
            <a:off x="8229600" y="1773936"/>
            <a:ext cx="3246120" cy="4014216"/>
          </a:xfrm>
          <a:prstGeom prst="rect">
            <a:avLst/>
          </a:prstGeom>
          <a:noFill/>
        </p:spPr>
        <p:txBody>
          <a:bodyPr wrap="square" lIns="0" tIns="0" rIns="0" bIns="0">
            <a:spAutoFit/>
          </a:bodyPr>
          <a:lstStyle/>
          <a:p>
            <a:pPr>
              <a:spcAft>
                <a:spcPts val="800"/>
              </a:spcAft>
            </a:pPr>
            <a:r>
              <a:rPr sz="1100" b="1">
                <a:solidFill>
                  <a:srgbClr val="7C3AED"/>
                </a:solidFill>
                <a:latin typeface="Arial"/>
              </a:rPr>
              <a:t>▪ </a:t>
            </a:r>
            <a:r>
              <a:rPr sz="1100" b="1">
                <a:solidFill>
                  <a:srgbClr val="0F1F38"/>
                </a:solidFill>
                <a:latin typeface="Arial"/>
              </a:rPr>
              <a:t>Hardware Target:</a:t>
            </a:r>
            <a:r>
              <a:rPr sz="1100" b="0">
                <a:solidFill>
                  <a:srgbClr val="0F172A"/>
                </a:solidFill>
                <a:latin typeface="Calibri"/>
              </a:rPr>
              <a:t> Raspberry Pi 5 (Quad ARM Cortex-A76) &amp; ARM Cortex-M55 Microcontroller with Ethos-U55 NPU.</a:t>
            </a:r>
          </a:p>
          <a:p>
            <a:pPr>
              <a:spcAft>
                <a:spcPts val="800"/>
              </a:spcAft>
            </a:pPr>
            <a:r>
              <a:rPr sz="1100" b="1">
                <a:solidFill>
                  <a:srgbClr val="7C3AED"/>
                </a:solidFill>
                <a:latin typeface="Arial"/>
              </a:rPr>
              <a:t>▪ </a:t>
            </a:r>
            <a:r>
              <a:rPr sz="1100" b="1">
                <a:solidFill>
                  <a:srgbClr val="0F1F38"/>
                </a:solidFill>
                <a:latin typeface="Arial"/>
              </a:rPr>
              <a:t>Kernel Integration:</a:t>
            </a:r>
            <a:r>
              <a:rPr sz="1100" b="0">
                <a:solidFill>
                  <a:srgbClr val="0F172A"/>
                </a:solidFill>
                <a:latin typeface="Calibri"/>
              </a:rPr>
              <a:t> Porting 2-bit packing to Microsoft `bitnet.cpp` with ARM NEON SIMD vectorization for physical speedups.</a:t>
            </a:r>
          </a:p>
          <a:p>
            <a:pPr>
              <a:spcAft>
                <a:spcPts val="800"/>
              </a:spcAft>
            </a:pPr>
            <a:r>
              <a:rPr sz="1100" b="1">
                <a:solidFill>
                  <a:srgbClr val="7C3AED"/>
                </a:solidFill>
                <a:latin typeface="Arial"/>
              </a:rPr>
              <a:t>▪ </a:t>
            </a:r>
            <a:r>
              <a:rPr sz="1100" b="1">
                <a:solidFill>
                  <a:srgbClr val="0F1F38"/>
                </a:solidFill>
                <a:latin typeface="Arial"/>
              </a:rPr>
              <a:t>Activation Quantization (W1.58A8):</a:t>
            </a:r>
            <a:r>
              <a:rPr sz="1100" b="0">
                <a:solidFill>
                  <a:srgbClr val="0F172A"/>
                </a:solidFill>
                <a:latin typeface="Calibri"/>
              </a:rPr>
              <a:t> Extending framework to 8-bit dynamic activation quantization for 100% integer inference.</a:t>
            </a:r>
          </a:p>
          <a:p>
            <a:pPr>
              <a:spcAft>
                <a:spcPts val="800"/>
              </a:spcAft>
            </a:pPr>
            <a:r>
              <a:rPr sz="1100" b="1">
                <a:solidFill>
                  <a:srgbClr val="7C3AED"/>
                </a:solidFill>
                <a:latin typeface="Arial"/>
              </a:rPr>
              <a:t>▪ </a:t>
            </a:r>
            <a:r>
              <a:rPr sz="1100" b="1">
                <a:solidFill>
                  <a:srgbClr val="0F1F38"/>
                </a:solidFill>
                <a:latin typeface="Arial"/>
              </a:rPr>
              <a:t>Academic Publication:</a:t>
            </a:r>
            <a:r>
              <a:rPr sz="1100" b="0">
                <a:solidFill>
                  <a:srgbClr val="0F172A"/>
                </a:solidFill>
                <a:latin typeface="Calibri"/>
              </a:rPr>
              <a:t> Manuscript prepared for submission to IEEE Embedded Systems Letters / ACM TECS.</a:t>
            </a:r>
          </a:p>
        </p:txBody>
      </p:sp>
      <p:sp>
        <p:nvSpPr>
          <p:cNvPr id="30" name="Rectangle 29"/>
          <p:cNvSpPr/>
          <p:nvPr/>
        </p:nvSpPr>
        <p:spPr>
          <a:xfrm>
            <a:off x="8211312" y="5916168"/>
            <a:ext cx="3282696" cy="329184"/>
          </a:xfrm>
          <a:prstGeom prst="rect">
            <a:avLst/>
          </a:prstGeom>
          <a:solidFill>
            <a:srgbClr val="F1F5F9"/>
          </a:solidFill>
          <a:ln w="12700">
            <a:solidFill>
              <a:srgbClr val="DCE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211312" y="5916168"/>
            <a:ext cx="50800" cy="329184"/>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84464" y="5971032"/>
            <a:ext cx="3118104" cy="219456"/>
          </a:xfrm>
          <a:prstGeom prst="rect">
            <a:avLst/>
          </a:prstGeom>
          <a:noFill/>
        </p:spPr>
        <p:txBody>
          <a:bodyPr wrap="none" lIns="0" tIns="0" rIns="0" bIns="0">
            <a:spAutoFit/>
          </a:bodyPr>
          <a:lstStyle/>
          <a:p>
            <a:pPr>
              <a:defRPr sz="950" b="1">
                <a:solidFill>
                  <a:srgbClr val="0F1F38"/>
                </a:solidFill>
                <a:latin typeface="Arial"/>
              </a:defRPr>
            </a:pPr>
            <a:r>
              <a:t>Publication Target: IEEE Embedded Systems Letters / ACM TECS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0F1F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82880"/>
            <a:ext cx="11094415" cy="219456"/>
          </a:xfrm>
          <a:prstGeom prst="rect">
            <a:avLst/>
          </a:prstGeom>
          <a:noFill/>
        </p:spPr>
        <p:txBody>
          <a:bodyPr wrap="none" lIns="0" tIns="0" rIns="0" bIns="0">
            <a:spAutoFit/>
          </a:bodyPr>
          <a:lstStyle/>
          <a:p>
            <a:pPr>
              <a:defRPr sz="900" b="1">
                <a:solidFill>
                  <a:srgbClr val="1E63EC"/>
                </a:solidFill>
                <a:latin typeface="Arial"/>
              </a:defRPr>
            </a:pPr>
            <a:r>
              <a:t>09  ·  REFERENCES</a:t>
            </a:r>
          </a:p>
        </p:txBody>
      </p:sp>
      <p:sp>
        <p:nvSpPr>
          <p:cNvPr id="5" name="TextBox 4"/>
          <p:cNvSpPr txBox="1"/>
          <p:nvPr/>
        </p:nvSpPr>
        <p:spPr>
          <a:xfrm>
            <a:off x="548640" y="384048"/>
            <a:ext cx="11094415" cy="420624"/>
          </a:xfrm>
          <a:prstGeom prst="rect">
            <a:avLst/>
          </a:prstGeom>
          <a:noFill/>
        </p:spPr>
        <p:txBody>
          <a:bodyPr wrap="none" lIns="0" tIns="0" rIns="0" bIns="0">
            <a:spAutoFit/>
          </a:bodyPr>
          <a:lstStyle/>
          <a:p>
            <a:pPr>
              <a:defRPr sz="2000" b="1">
                <a:solidFill>
                  <a:srgbClr val="0F1F38"/>
                </a:solidFill>
                <a:latin typeface="Arial"/>
              </a:defRPr>
            </a:pPr>
            <a:r>
              <a:t>Academic Literature References &amp; Reproducibility Repository</a:t>
            </a:r>
          </a:p>
        </p:txBody>
      </p:sp>
      <p:sp>
        <p:nvSpPr>
          <p:cNvPr id="6" name="Rectangle 5"/>
          <p:cNvSpPr/>
          <p:nvPr/>
        </p:nvSpPr>
        <p:spPr>
          <a:xfrm>
            <a:off x="548640" y="841248"/>
            <a:ext cx="11094415" cy="384048"/>
          </a:xfrm>
          <a:prstGeom prst="rect">
            <a:avLst/>
          </a:prstGeom>
          <a:solidFill>
            <a:srgbClr val="EEF4FF"/>
          </a:solidFill>
          <a:ln w="12700">
            <a:solidFill>
              <a:srgbClr val="B9D3F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841248"/>
            <a:ext cx="63500" cy="384048"/>
          </a:xfrm>
          <a:prstGeom prst="rect">
            <a:avLst/>
          </a:prstGeom>
          <a:solidFill>
            <a:srgbClr val="1E63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896112"/>
            <a:ext cx="10865815" cy="274320"/>
          </a:xfrm>
          <a:prstGeom prst="rect">
            <a:avLst/>
          </a:prstGeom>
          <a:noFill/>
        </p:spPr>
        <p:txBody>
          <a:bodyPr wrap="square" lIns="0" tIns="0" rIns="0" bIns="0">
            <a:spAutoFit/>
          </a:bodyPr>
          <a:lstStyle/>
          <a:p>
            <a:r>
              <a:rPr sz="1000" b="1">
                <a:solidFill>
                  <a:srgbClr val="1E63EC"/>
                </a:solidFill>
                <a:latin typeface="Arial"/>
              </a:rPr>
              <a:t>KEY TAKEAWAY:  </a:t>
            </a:r>
            <a:r>
              <a:rPr sz="1000" b="1">
                <a:solidFill>
                  <a:srgbClr val="0F1F38"/>
                </a:solidFill>
                <a:latin typeface="Calibri"/>
              </a:rPr>
              <a:t>Formal peer-reviewed references (IEEE format) and public GitHub repository link for project evaluation.</a:t>
            </a:r>
          </a:p>
        </p:txBody>
      </p:sp>
      <p:sp>
        <p:nvSpPr>
          <p:cNvPr id="9" name="Rectangle 8"/>
          <p:cNvSpPr/>
          <p:nvPr/>
        </p:nvSpPr>
        <p:spPr>
          <a:xfrm>
            <a:off x="548640" y="6446520"/>
            <a:ext cx="11094415" cy="12700"/>
          </a:xfrm>
          <a:prstGeom prst="rect">
            <a:avLst/>
          </a:prstGeom>
          <a:solidFill>
            <a:srgbClr val="DCE3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6501384"/>
            <a:ext cx="8686800" cy="256032"/>
          </a:xfrm>
          <a:prstGeom prst="rect">
            <a:avLst/>
          </a:prstGeom>
          <a:noFill/>
        </p:spPr>
        <p:txBody>
          <a:bodyPr wrap="none" lIns="0" tIns="0" rIns="0" bIns="0">
            <a:spAutoFit/>
          </a:bodyPr>
          <a:lstStyle/>
          <a:p>
            <a:pPr>
              <a:defRPr sz="800" b="1">
                <a:solidFill>
                  <a:srgbClr val="475569"/>
                </a:solidFill>
                <a:latin typeface="Arial"/>
              </a:defRPr>
            </a:pPr>
            <a:r>
              <a:t>MAYANK RANA (24U021026)  ·  GUIDE: DR. YATENDRA SAHU  ·  IIIT BHOPAL  ·  GITHUB: https://github.com/Mayank-Rana1/llm_quantization</a:t>
            </a:r>
          </a:p>
        </p:txBody>
      </p:sp>
      <p:sp>
        <p:nvSpPr>
          <p:cNvPr id="11" name="TextBox 10"/>
          <p:cNvSpPr txBox="1"/>
          <p:nvPr/>
        </p:nvSpPr>
        <p:spPr>
          <a:xfrm>
            <a:off x="9357055" y="6501384"/>
            <a:ext cx="2286000" cy="256032"/>
          </a:xfrm>
          <a:prstGeom prst="rect">
            <a:avLst/>
          </a:prstGeom>
          <a:noFill/>
        </p:spPr>
        <p:txBody>
          <a:bodyPr wrap="none" lIns="0" tIns="0" rIns="0" bIns="0">
            <a:spAutoFit/>
          </a:bodyPr>
          <a:lstStyle/>
          <a:p>
            <a:pPr algn="r">
              <a:defRPr sz="850" b="1">
                <a:solidFill>
                  <a:srgbClr val="0F1F38"/>
                </a:solidFill>
                <a:latin typeface="Arial"/>
              </a:defRPr>
            </a:pPr>
            <a:r>
              <a:t>SLIDE 09 OF 09</a:t>
            </a:r>
          </a:p>
        </p:txBody>
      </p:sp>
      <p:sp>
        <p:nvSpPr>
          <p:cNvPr id="12" name="Rectangle 11"/>
          <p:cNvSpPr/>
          <p:nvPr/>
        </p:nvSpPr>
        <p:spPr>
          <a:xfrm>
            <a:off x="548640" y="1353312"/>
            <a:ext cx="11094415" cy="3291840"/>
          </a:xfrm>
          <a:prstGeom prst="rect">
            <a:avLst/>
          </a:prstGeom>
          <a:solidFill>
            <a:srgbClr val="FFFFFF"/>
          </a:solidFill>
          <a:ln w="15240">
            <a:solidFill>
              <a:srgbClr val="DCE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353312"/>
            <a:ext cx="11094415" cy="329184"/>
          </a:xfrm>
          <a:prstGeom prst="rect">
            <a:avLst/>
          </a:prstGeom>
          <a:solidFill>
            <a:srgbClr val="0F1F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4944" y="1417320"/>
            <a:ext cx="10801807" cy="219456"/>
          </a:xfrm>
          <a:prstGeom prst="rect">
            <a:avLst/>
          </a:prstGeom>
          <a:noFill/>
        </p:spPr>
        <p:txBody>
          <a:bodyPr wrap="none" lIns="0" tIns="0" rIns="0" bIns="0">
            <a:spAutoFit/>
          </a:bodyPr>
          <a:lstStyle/>
          <a:p>
            <a:pPr>
              <a:defRPr sz="900" b="1">
                <a:solidFill>
                  <a:srgbClr val="FFFFFF"/>
                </a:solidFill>
                <a:latin typeface="Arial"/>
              </a:defRPr>
            </a:pPr>
            <a:r>
              <a:t>PRIMARY ACADEMIC LITERATURE REFERENCES (IEEE FORMAT)</a:t>
            </a:r>
          </a:p>
        </p:txBody>
      </p:sp>
      <p:sp>
        <p:nvSpPr>
          <p:cNvPr id="15" name="TextBox 14"/>
          <p:cNvSpPr txBox="1"/>
          <p:nvPr/>
        </p:nvSpPr>
        <p:spPr>
          <a:xfrm>
            <a:off x="713232" y="1773936"/>
            <a:ext cx="10765231" cy="2322576"/>
          </a:xfrm>
          <a:prstGeom prst="rect">
            <a:avLst/>
          </a:prstGeom>
          <a:noFill/>
        </p:spPr>
        <p:txBody>
          <a:bodyPr wrap="square" lIns="0" tIns="0" rIns="0" bIns="0">
            <a:spAutoFit/>
          </a:bodyPr>
          <a:lstStyle/>
          <a:p>
            <a:pPr>
              <a:spcAft>
                <a:spcPts val="800"/>
              </a:spcAft>
            </a:pPr>
            <a:r>
              <a:rPr sz="1100" b="1">
                <a:solidFill>
                  <a:srgbClr val="1E63EC"/>
                </a:solidFill>
                <a:latin typeface="Arial"/>
              </a:rPr>
              <a:t>▪ </a:t>
            </a:r>
            <a:r>
              <a:rPr sz="1100">
                <a:solidFill>
                  <a:srgbClr val="0F172A"/>
                </a:solidFill>
                <a:latin typeface="Calibri"/>
              </a:rPr>
              <a:t>[1] R. Cantini, A. Orsino, and D. Talia, "XAI-driven knowledge distillation of large language models for efficient deployment on low-resource devices," Journal of Big Data, vol. 11, no. 63, pp. 1-28, 2024. [Base Reference Paper]</a:t>
            </a:r>
          </a:p>
          <a:p>
            <a:pPr>
              <a:spcAft>
                <a:spcPts val="800"/>
              </a:spcAft>
            </a:pPr>
            <a:r>
              <a:rPr sz="1100" b="1">
                <a:solidFill>
                  <a:srgbClr val="1E63EC"/>
                </a:solidFill>
                <a:latin typeface="Arial"/>
              </a:rPr>
              <a:t>▪ </a:t>
            </a:r>
            <a:r>
              <a:rPr sz="1100" b="1">
                <a:solidFill>
                  <a:srgbClr val="0F1F38"/>
                </a:solidFill>
                <a:latin typeface="Arial"/>
              </a:rPr>
              <a:t>[2] S. Ma et al., "The era of 1-bit LLMs:</a:t>
            </a:r>
            <a:r>
              <a:rPr sz="1100" b="0">
                <a:solidFill>
                  <a:srgbClr val="0F172A"/>
                </a:solidFill>
                <a:latin typeface="Calibri"/>
              </a:rPr>
              <a:t> All large language models are in 1.58 bits," Microsoft Research Technical Report, arXiv:2402.17764, Feb. 2024.</a:t>
            </a:r>
          </a:p>
          <a:p>
            <a:pPr>
              <a:spcAft>
                <a:spcPts val="800"/>
              </a:spcAft>
            </a:pPr>
            <a:r>
              <a:rPr sz="1100" b="1">
                <a:solidFill>
                  <a:srgbClr val="1E63EC"/>
                </a:solidFill>
                <a:latin typeface="Arial"/>
              </a:rPr>
              <a:t>▪ </a:t>
            </a:r>
            <a:r>
              <a:rPr sz="1100">
                <a:solidFill>
                  <a:srgbClr val="0F172A"/>
                </a:solidFill>
                <a:latin typeface="Calibri"/>
              </a:rPr>
              <a:t>[3] G. Hinton, O. Vinyals, and J. Dean, "Distilling the knowledge in a neural network," in NIPS Deep Learning and Representation Learning Workshop, 2015.</a:t>
            </a:r>
          </a:p>
          <a:p>
            <a:pPr>
              <a:spcAft>
                <a:spcPts val="800"/>
              </a:spcAft>
            </a:pPr>
            <a:r>
              <a:rPr sz="1100" b="1">
                <a:solidFill>
                  <a:srgbClr val="1E63EC"/>
                </a:solidFill>
                <a:latin typeface="Arial"/>
              </a:rPr>
              <a:t>▪ </a:t>
            </a:r>
            <a:r>
              <a:rPr sz="1100" b="1">
                <a:solidFill>
                  <a:srgbClr val="0F1F38"/>
                </a:solidFill>
                <a:latin typeface="Arial"/>
              </a:rPr>
              <a:t>[4] E. Frantar, S. Ashkboos, T. Hoefler, and D. Alistarh, "GPTQ:</a:t>
            </a:r>
            <a:r>
              <a:rPr sz="1100" b="0">
                <a:solidFill>
                  <a:srgbClr val="0F172A"/>
                </a:solidFill>
                <a:latin typeface="Calibri"/>
              </a:rPr>
              <a:t> Accurate post-training quantization for generative pre-trained transformers," in Int. Conf. on Learning Representations (ICLR), 2023.</a:t>
            </a:r>
          </a:p>
          <a:p>
            <a:pPr>
              <a:spcAft>
                <a:spcPts val="800"/>
              </a:spcAft>
            </a:pPr>
            <a:r>
              <a:rPr sz="1100" b="1">
                <a:solidFill>
                  <a:srgbClr val="1E63EC"/>
                </a:solidFill>
                <a:latin typeface="Arial"/>
              </a:rPr>
              <a:t>▪ </a:t>
            </a:r>
            <a:r>
              <a:rPr sz="1100" b="1">
                <a:solidFill>
                  <a:srgbClr val="0F1F38"/>
                </a:solidFill>
                <a:latin typeface="Arial"/>
              </a:rPr>
              <a:t>[5] T. Dettmers, A. Pagnoni, A. Holtzman, and L. Zettlemoyer, "QLoRA:</a:t>
            </a:r>
            <a:r>
              <a:rPr sz="1100" b="0">
                <a:solidFill>
                  <a:srgbClr val="0F172A"/>
                </a:solidFill>
                <a:latin typeface="Calibri"/>
              </a:rPr>
              <a:t> Efficient finetuning of quantized LLMs," in Advances in Neural Information Processing Systems (NeurIPS), vol. 36, 2023.</a:t>
            </a:r>
          </a:p>
          <a:p>
            <a:pPr>
              <a:spcAft>
                <a:spcPts val="800"/>
              </a:spcAft>
            </a:pPr>
            <a:r>
              <a:rPr sz="1100" b="1">
                <a:solidFill>
                  <a:srgbClr val="1E63EC"/>
                </a:solidFill>
                <a:latin typeface="Arial"/>
              </a:rPr>
              <a:t>▪ </a:t>
            </a:r>
            <a:r>
              <a:rPr sz="1100" b="1">
                <a:solidFill>
                  <a:srgbClr val="0F1F38"/>
                </a:solidFill>
                <a:latin typeface="Arial"/>
              </a:rPr>
              <a:t>[6] R. Eldan and Y. Li, "TinyStories:</a:t>
            </a:r>
            <a:r>
              <a:rPr sz="1100" b="0">
                <a:solidFill>
                  <a:srgbClr val="0F172A"/>
                </a:solidFill>
                <a:latin typeface="Calibri"/>
              </a:rPr>
              <a:t> How small can language models be and still speak coherent English?," arXiv preprint arXiv:2305.07759, 2023.</a:t>
            </a:r>
          </a:p>
        </p:txBody>
      </p:sp>
      <p:sp>
        <p:nvSpPr>
          <p:cNvPr id="16" name="Rectangle 15"/>
          <p:cNvSpPr/>
          <p:nvPr/>
        </p:nvSpPr>
        <p:spPr>
          <a:xfrm>
            <a:off x="694944" y="4224528"/>
            <a:ext cx="10801807" cy="329184"/>
          </a:xfrm>
          <a:prstGeom prst="rect">
            <a:avLst/>
          </a:prstGeom>
          <a:solidFill>
            <a:srgbClr val="F1F5F9"/>
          </a:solidFill>
          <a:ln w="12700">
            <a:solidFill>
              <a:srgbClr val="DCE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94944" y="4224528"/>
            <a:ext cx="50800" cy="329184"/>
          </a:xfrm>
          <a:prstGeom prst="rect">
            <a:avLst/>
          </a:prstGeom>
          <a:solidFill>
            <a:srgbClr val="1E63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8096" y="4279392"/>
            <a:ext cx="10637215" cy="219456"/>
          </a:xfrm>
          <a:prstGeom prst="rect">
            <a:avLst/>
          </a:prstGeom>
          <a:noFill/>
        </p:spPr>
        <p:txBody>
          <a:bodyPr wrap="none" lIns="0" tIns="0" rIns="0" bIns="0">
            <a:spAutoFit/>
          </a:bodyPr>
          <a:lstStyle/>
          <a:p>
            <a:pPr>
              <a:defRPr sz="950" b="1">
                <a:solidFill>
                  <a:srgbClr val="0F1F38"/>
                </a:solidFill>
                <a:latin typeface="Arial"/>
              </a:defRPr>
            </a:pPr>
            <a:r>
              <a:t>All theoretical foundations and baselines strictly grounded in peer-reviewed literature</a:t>
            </a:r>
          </a:p>
        </p:txBody>
      </p:sp>
      <p:sp>
        <p:nvSpPr>
          <p:cNvPr id="19" name="Rectangle 18"/>
          <p:cNvSpPr/>
          <p:nvPr/>
        </p:nvSpPr>
        <p:spPr>
          <a:xfrm>
            <a:off x="548640" y="4782312"/>
            <a:ext cx="11094415" cy="1554480"/>
          </a:xfrm>
          <a:prstGeom prst="rect">
            <a:avLst/>
          </a:prstGeom>
          <a:solidFill>
            <a:srgbClr val="FFFFFF"/>
          </a:solidFill>
          <a:ln w="15240">
            <a:solidFill>
              <a:srgbClr val="DCE3E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4782312"/>
            <a:ext cx="11094415" cy="310896"/>
          </a:xfrm>
          <a:prstGeom prst="rect">
            <a:avLst/>
          </a:prstGeom>
          <a:solidFill>
            <a:srgbClr val="0F1F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94944" y="4837176"/>
            <a:ext cx="10801807" cy="219456"/>
          </a:xfrm>
          <a:prstGeom prst="rect">
            <a:avLst/>
          </a:prstGeom>
          <a:noFill/>
        </p:spPr>
        <p:txBody>
          <a:bodyPr wrap="none">
            <a:spAutoFit/>
          </a:bodyPr>
          <a:lstStyle/>
          <a:p>
            <a:pPr>
              <a:defRPr sz="900" b="1">
                <a:solidFill>
                  <a:srgbClr val="FFFFFF"/>
                </a:solidFill>
                <a:latin typeface="Arial"/>
              </a:defRPr>
            </a:pPr>
            <a:r>
              <a:t>MANDATORY EVALUATION REPOSITORY &amp; REPRODUCIBILITY VERIFICATION</a:t>
            </a:r>
          </a:p>
        </p:txBody>
      </p:sp>
      <p:sp>
        <p:nvSpPr>
          <p:cNvPr id="22" name="TextBox 21"/>
          <p:cNvSpPr txBox="1"/>
          <p:nvPr/>
        </p:nvSpPr>
        <p:spPr>
          <a:xfrm>
            <a:off x="777240" y="5166360"/>
            <a:ext cx="10637215" cy="1051560"/>
          </a:xfrm>
          <a:prstGeom prst="rect">
            <a:avLst/>
          </a:prstGeom>
          <a:noFill/>
        </p:spPr>
        <p:txBody>
          <a:bodyPr wrap="square">
            <a:spAutoFit/>
          </a:bodyPr>
          <a:lstStyle/>
          <a:p>
            <a:r>
              <a:rPr sz="1100" b="1">
                <a:solidFill>
                  <a:srgbClr val="0F1F38"/>
                </a:solidFill>
                <a:latin typeface="Arial"/>
              </a:rPr>
              <a:t>Public GitHub Repository Link: </a:t>
            </a:r>
            <a:r>
              <a:rPr sz="1150" b="1">
                <a:solidFill>
                  <a:srgbClr val="1E63EC"/>
                </a:solidFill>
                <a:latin typeface="Arial"/>
              </a:rPr>
              <a:t>https://github.com/Mayank-Rana1/llm_quantization</a:t>
            </a:r>
          </a:p>
          <a:p>
            <a:pPr>
              <a:spcBef>
                <a:spcPts val="400"/>
              </a:spcBef>
              <a:defRPr sz="950">
                <a:solidFill>
                  <a:srgbClr val="0F172A"/>
                </a:solidFill>
                <a:latin typeface="Calibri"/>
              </a:defRPr>
            </a:pPr>
            <a:r>
              <a:t>▪ Repository Contents: Full PyTorch training pipeline (`train.py`), bit-packing kernels (`bit_packing_kernel.py`), evaluation suite, and documentation.</a:t>
            </a:r>
            <a:br/>
            <a:r>
              <a:t>▪ Deliverables: Saved model checkpoints (Models A to D), formal B.Tech report `.docx`, and presentation slides `.pptx`.</a:t>
            </a:r>
            <a:br/>
            <a:r>
              <a:t>▪ Reproducibility: Step-by-step instructions and minimal dependency requirements documented in the repository README.md.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